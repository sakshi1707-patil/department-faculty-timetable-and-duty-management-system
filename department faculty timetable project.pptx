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72" r:id="rId4"/>
    <p:sldId id="270" r:id="rId5"/>
    <p:sldId id="274" r:id="rId6"/>
    <p:sldId id="264" r:id="rId7"/>
    <p:sldId id="262" r:id="rId8"/>
    <p:sldId id="266" r:id="rId9"/>
    <p:sldId id="269" r:id="rId10"/>
    <p:sldId id="271" r:id="rId11"/>
    <p:sldId id="273" r:id="rId12"/>
    <p:sldId id="265" r:id="rId13"/>
    <p:sldId id="268" r:id="rId14"/>
  </p:sldIdLst>
  <p:sldSz cx="14630400" cy="8229600"/>
  <p:notesSz cx="8229600" cy="14630400"/>
  <p:embeddedFontLst>
    <p:embeddedFont>
      <p:font typeface="Alice" panose="020B0604020202020204" charset="0"/>
      <p:regular r:id="rId16"/>
    </p:embeddedFont>
    <p:embeddedFont>
      <p:font typeface="Lora" pitchFamily="2"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82" y="4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3.fntdata"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2.fntdata" /><Relationship Id="rId2" Type="http://schemas.openxmlformats.org/officeDocument/2006/relationships/slide" Target="slides/slide1.xml" /><Relationship Id="rId16" Type="http://schemas.openxmlformats.org/officeDocument/2006/relationships/font" Target="fonts/font1.fntdata" /><Relationship Id="rId20" Type="http://schemas.openxmlformats.org/officeDocument/2006/relationships/font" Target="fonts/font5.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notesMaster" Target="notesMasters/notesMaster1.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font" Target="fonts/font4.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2E366E48-2BAB-5046-AAF1-00FDF3A82B1D}" type="datetimeFigureOut">
              <a:rPr lang="en-US"/>
              <a:t>10/10/2026</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20A03CA3-E4B7-C743-B789-BF57FF6F6466}" type="slidenum">
              <a:rPr lang="en-US"/>
              <a:t>‹#›</a:t>
            </a:fld>
            <a:endParaRPr lang="en-US"/>
          </a:p>
        </p:txBody>
      </p:sp>
    </p:spTree>
    <p:extLst>
      <p:ext uri="{BB962C8B-B14F-4D97-AF65-F5344CB8AC3E}">
        <p14:creationId xmlns:p14="http://schemas.microsoft.com/office/powerpoint/2010/main" val="2890696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txBody>
          <a:bodyPr/>
          <a:lstStyle/>
          <a:p>
            <a:endParaRPr lang="en-IN"/>
          </a:p>
        </p:txBody>
      </p:sp>
      <p:sp>
        <p:nvSpPr>
          <p:cNvPr id="3" name="Shape 1"/>
          <p:cNvSpPr/>
          <p:nvPr/>
        </p:nvSpPr>
        <p:spPr>
          <a:xfrm>
            <a:off x="0" y="0"/>
            <a:ext cx="14630400" cy="8229600"/>
          </a:xfrm>
          <a:prstGeom prst="rect">
            <a:avLst/>
          </a:prstGeom>
          <a:solidFill>
            <a:srgbClr val="FCFBF8"/>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1.xml" /><Relationship Id="rId1" Type="http://schemas.openxmlformats.org/officeDocument/2006/relationships/slideLayout" Target="../slideLayouts/slideLayout2.xml" /><Relationship Id="rId5" Type="http://schemas.microsoft.com/office/2007/relationships/hdphoto" Target="../media/hdphoto1.wdp"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openxmlformats.org/officeDocument/2006/relationships/image" Target="../media/image4.png" /></Relationships>
</file>

<file path=ppt/slides/_rels/slide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5.xml.rels><?xml version="1.0" encoding="UTF-8" standalone="yes"?>
<Relationships xmlns="http://schemas.openxmlformats.org/package/2006/relationships"><Relationship Id="rId3" Type="http://schemas.openxmlformats.org/officeDocument/2006/relationships/image" Target="../media/image7.jpeg" /><Relationship Id="rId7" Type="http://schemas.openxmlformats.org/officeDocument/2006/relationships/image" Target="../media/image11.jpeg" /><Relationship Id="rId2" Type="http://schemas.openxmlformats.org/officeDocument/2006/relationships/image" Target="../media/image6.jpeg" /><Relationship Id="rId1" Type="http://schemas.openxmlformats.org/officeDocument/2006/relationships/slideLayout" Target="../slideLayouts/slideLayout8.xml" /><Relationship Id="rId6" Type="http://schemas.openxmlformats.org/officeDocument/2006/relationships/image" Target="../media/image10.jpeg" /><Relationship Id="rId5" Type="http://schemas.openxmlformats.org/officeDocument/2006/relationships/image" Target="../media/image9.jpeg" /><Relationship Id="rId4" Type="http://schemas.openxmlformats.org/officeDocument/2006/relationships/image" Target="../media/image8.jpeg" /></Relationships>
</file>

<file path=ppt/slides/_rels/slide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3.xml" /><Relationship Id="rId1" Type="http://schemas.openxmlformats.org/officeDocument/2006/relationships/slideLayout" Target="../slideLayouts/slideLayout8.xml" /><Relationship Id="rId4" Type="http://schemas.openxmlformats.org/officeDocument/2006/relationships/image" Target="../media/image5.png" /></Relationships>
</file>

<file path=ppt/slides/_rels/slide8.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8.xml" /></Relationships>
</file>

<file path=ppt/slides/_rels/slide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10.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11.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1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1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97832" y="493295"/>
            <a:ext cx="13613837" cy="1501835"/>
          </a:xfrm>
          <a:prstGeom prst="rect">
            <a:avLst/>
          </a:prstGeom>
          <a:noFill/>
          <a:ln/>
        </p:spPr>
        <p:txBody>
          <a:bodyPr wrap="square" lIns="0" tIns="0" rIns="0" bIns="0" rtlCol="0" anchor="t"/>
          <a:lstStyle/>
          <a:p>
            <a:pPr marL="0" indent="0" algn="ctr">
              <a:lnSpc>
                <a:spcPts val="5450"/>
              </a:lnSpc>
              <a:buNone/>
            </a:pPr>
            <a:r>
              <a:rPr lang="en-US" sz="4350" dirty="0">
                <a:solidFill>
                  <a:srgbClr val="233E32"/>
                </a:solidFill>
                <a:latin typeface="Alice" pitchFamily="34" charset="0"/>
                <a:ea typeface="Alice" pitchFamily="34" charset="-122"/>
              </a:rPr>
              <a:t>Department Faculty Timetable and Duty Management System</a:t>
            </a:r>
            <a:endParaRPr lang="en-US" sz="4350" dirty="0"/>
          </a:p>
        </p:txBody>
      </p:sp>
      <p:sp>
        <p:nvSpPr>
          <p:cNvPr id="4" name="Text 1"/>
          <p:cNvSpPr/>
          <p:nvPr/>
        </p:nvSpPr>
        <p:spPr>
          <a:xfrm>
            <a:off x="890612" y="2053077"/>
            <a:ext cx="13012258" cy="858333"/>
          </a:xfrm>
          <a:prstGeom prst="rect">
            <a:avLst/>
          </a:prstGeom>
          <a:noFill/>
          <a:ln/>
        </p:spPr>
        <p:txBody>
          <a:bodyPr wrap="square" lIns="0" tIns="0" rIns="0" bIns="0" rtlCol="0" anchor="t"/>
          <a:lstStyle/>
          <a:p>
            <a:pPr marL="0" indent="0" algn="ctr">
              <a:lnSpc>
                <a:spcPts val="2750"/>
              </a:lnSpc>
              <a:buNone/>
            </a:pPr>
            <a:r>
              <a:rPr lang="en-US" sz="2000" b="1" dirty="0">
                <a:solidFill>
                  <a:srgbClr val="2C2821"/>
                </a:solidFill>
                <a:latin typeface="Lora" pitchFamily="34" charset="0"/>
                <a:ea typeface="Lora" pitchFamily="34" charset="-122"/>
                <a:cs typeface="Lora" pitchFamily="34" charset="-120"/>
              </a:rPr>
              <a:t>KOLHAPUR INSTITUTE OF TECHNOLOGY'S COLLEGE OF ENGINEERING, KOLHAPUR</a:t>
            </a:r>
            <a:r>
              <a:rPr lang="en-US" sz="1700" b="1" dirty="0">
                <a:solidFill>
                  <a:srgbClr val="2C2821"/>
                </a:solidFill>
                <a:latin typeface="Lora" pitchFamily="34" charset="0"/>
                <a:ea typeface="Lora" pitchFamily="34" charset="-122"/>
                <a:cs typeface="Lora" pitchFamily="34" charset="-120"/>
              </a:rPr>
              <a:t>.</a:t>
            </a:r>
            <a:endParaRPr lang="en-US" sz="1700" b="1" dirty="0"/>
          </a:p>
        </p:txBody>
      </p:sp>
      <p:sp>
        <p:nvSpPr>
          <p:cNvPr id="5" name="Text 2"/>
          <p:cNvSpPr/>
          <p:nvPr/>
        </p:nvSpPr>
        <p:spPr>
          <a:xfrm>
            <a:off x="3708680" y="2749091"/>
            <a:ext cx="7592139" cy="354687"/>
          </a:xfrm>
          <a:prstGeom prst="rect">
            <a:avLst/>
          </a:prstGeom>
          <a:noFill/>
          <a:ln/>
        </p:spPr>
        <p:txBody>
          <a:bodyPr wrap="none" lIns="0" tIns="0" rIns="0" bIns="0" rtlCol="0" anchor="t"/>
          <a:lstStyle/>
          <a:p>
            <a:pPr marL="0" indent="0" algn="ctr">
              <a:lnSpc>
                <a:spcPts val="2750"/>
              </a:lnSpc>
              <a:buNone/>
            </a:pPr>
            <a:r>
              <a:rPr lang="en-US" sz="2000" b="1" dirty="0">
                <a:solidFill>
                  <a:srgbClr val="2C2821"/>
                </a:solidFill>
                <a:latin typeface="Lora" pitchFamily="34" charset="0"/>
                <a:ea typeface="Lora" pitchFamily="34" charset="-122"/>
                <a:cs typeface="Lora" pitchFamily="34" charset="-120"/>
              </a:rPr>
              <a:t>DEPARTMENT of CSE(AIML)</a:t>
            </a:r>
            <a:endParaRPr lang="en-US" sz="2000" b="1" dirty="0"/>
          </a:p>
        </p:txBody>
      </p:sp>
      <p:sp>
        <p:nvSpPr>
          <p:cNvPr id="6" name="Text 3"/>
          <p:cNvSpPr/>
          <p:nvPr/>
        </p:nvSpPr>
        <p:spPr>
          <a:xfrm>
            <a:off x="-1816875" y="4072038"/>
            <a:ext cx="7592139" cy="354687"/>
          </a:xfrm>
          <a:prstGeom prst="rect">
            <a:avLst/>
          </a:prstGeom>
          <a:noFill/>
          <a:ln/>
        </p:spPr>
        <p:txBody>
          <a:bodyPr wrap="none" lIns="0" tIns="0" rIns="0" bIns="0" rtlCol="0" anchor="t"/>
          <a:lstStyle/>
          <a:p>
            <a:pPr marL="0" indent="0" algn="ctr">
              <a:lnSpc>
                <a:spcPts val="2750"/>
              </a:lnSpc>
              <a:buNone/>
            </a:pPr>
            <a:r>
              <a:rPr lang="en-US" b="1" u="sng" dirty="0">
                <a:solidFill>
                  <a:srgbClr val="2C2821"/>
                </a:solidFill>
                <a:latin typeface="Lora" pitchFamily="34" charset="0"/>
                <a:ea typeface="Lora" pitchFamily="34" charset="-122"/>
                <a:cs typeface="Lora" pitchFamily="34" charset="-120"/>
              </a:rPr>
              <a:t>Presented by</a:t>
            </a:r>
            <a:r>
              <a:rPr lang="en-US" dirty="0">
                <a:solidFill>
                  <a:srgbClr val="2C2821"/>
                </a:solidFill>
                <a:latin typeface="Lora" pitchFamily="34" charset="0"/>
                <a:ea typeface="Lora" pitchFamily="34" charset="-122"/>
                <a:cs typeface="Lora" pitchFamily="34" charset="-120"/>
              </a:rPr>
              <a:t>:    </a:t>
            </a:r>
            <a:r>
              <a:rPr lang="en-US" dirty="0">
                <a:solidFill>
                  <a:srgbClr val="2C2821"/>
                </a:solidFill>
                <a:latin typeface="Alice" panose="020B0604020202020204" charset="0"/>
                <a:ea typeface="Alice" panose="020B0604020202020204" charset="0"/>
                <a:cs typeface="Lora" pitchFamily="34" charset="-120"/>
              </a:rPr>
              <a:t>A18 – Neha Jagtap</a:t>
            </a:r>
            <a:endParaRPr lang="en-US" dirty="0">
              <a:latin typeface="Alice" panose="020B0604020202020204" charset="0"/>
              <a:ea typeface="Alice" panose="020B0604020202020204" charset="0"/>
            </a:endParaRPr>
          </a:p>
        </p:txBody>
      </p:sp>
      <p:sp>
        <p:nvSpPr>
          <p:cNvPr id="7" name="Text 4"/>
          <p:cNvSpPr/>
          <p:nvPr/>
        </p:nvSpPr>
        <p:spPr>
          <a:xfrm>
            <a:off x="-1816876" y="4438845"/>
            <a:ext cx="7592139" cy="407597"/>
          </a:xfrm>
          <a:prstGeom prst="rect">
            <a:avLst/>
          </a:prstGeom>
          <a:noFill/>
          <a:ln/>
        </p:spPr>
        <p:txBody>
          <a:bodyPr wrap="none" lIns="0" tIns="0" rIns="0" bIns="0" rtlCol="0" anchor="t"/>
          <a:lstStyle/>
          <a:p>
            <a:pPr marL="0" indent="0" algn="ctr">
              <a:lnSpc>
                <a:spcPts val="2750"/>
              </a:lnSpc>
              <a:buNone/>
            </a:pPr>
            <a:r>
              <a:rPr lang="en-US" sz="1700" dirty="0">
                <a:solidFill>
                  <a:srgbClr val="2C2821"/>
                </a:solidFill>
                <a:latin typeface="Lora" pitchFamily="34" charset="0"/>
                <a:ea typeface="Lora" pitchFamily="34" charset="-122"/>
                <a:cs typeface="Lora" pitchFamily="34" charset="-120"/>
              </a:rPr>
              <a:t>                             </a:t>
            </a:r>
            <a:r>
              <a:rPr lang="en-US" dirty="0">
                <a:solidFill>
                  <a:srgbClr val="2C2821"/>
                </a:solidFill>
                <a:latin typeface="Alice" panose="020B0604020202020204" charset="0"/>
                <a:ea typeface="Alice" panose="020B0604020202020204" charset="0"/>
                <a:cs typeface="Lora" pitchFamily="34" charset="-120"/>
              </a:rPr>
              <a:t>A45 – Sakshi Patil</a:t>
            </a:r>
            <a:endParaRPr lang="en-US" dirty="0">
              <a:latin typeface="Alice" panose="020B0604020202020204" charset="0"/>
              <a:ea typeface="Alice" panose="020B0604020202020204" charset="0"/>
            </a:endParaRPr>
          </a:p>
        </p:txBody>
      </p:sp>
      <p:sp>
        <p:nvSpPr>
          <p:cNvPr id="8" name="Text 5"/>
          <p:cNvSpPr/>
          <p:nvPr/>
        </p:nvSpPr>
        <p:spPr>
          <a:xfrm>
            <a:off x="-1816876" y="4808272"/>
            <a:ext cx="7592138" cy="762284"/>
          </a:xfrm>
          <a:prstGeom prst="rect">
            <a:avLst/>
          </a:prstGeom>
          <a:noFill/>
          <a:ln/>
        </p:spPr>
        <p:txBody>
          <a:bodyPr wrap="none" lIns="0" tIns="0" rIns="0" bIns="0" rtlCol="0" anchor="t"/>
          <a:lstStyle/>
          <a:p>
            <a:pPr marL="0" indent="0" algn="ctr">
              <a:lnSpc>
                <a:spcPts val="2750"/>
              </a:lnSpc>
              <a:buNone/>
            </a:pPr>
            <a:r>
              <a:rPr lang="en-US" dirty="0">
                <a:solidFill>
                  <a:srgbClr val="2C2821"/>
                </a:solidFill>
                <a:latin typeface="Alice" panose="020B0604020202020204" charset="0"/>
                <a:ea typeface="Alice" panose="020B0604020202020204" charset="0"/>
                <a:cs typeface="Lora" pitchFamily="34" charset="-120"/>
              </a:rPr>
              <a:t>                                             A64 – Vaishnavi </a:t>
            </a:r>
            <a:r>
              <a:rPr lang="en-US" dirty="0" err="1">
                <a:solidFill>
                  <a:srgbClr val="2C2821"/>
                </a:solidFill>
                <a:latin typeface="Alice" panose="020B0604020202020204" charset="0"/>
                <a:ea typeface="Alice" panose="020B0604020202020204" charset="0"/>
                <a:cs typeface="Lora" pitchFamily="34" charset="-120"/>
              </a:rPr>
              <a:t>Benake</a:t>
            </a:r>
            <a:r>
              <a:rPr lang="en-US" dirty="0">
                <a:solidFill>
                  <a:srgbClr val="2C2821"/>
                </a:solidFill>
                <a:latin typeface="Alice" panose="020B0604020202020204" charset="0"/>
                <a:ea typeface="Alice" panose="020B0604020202020204" charset="0"/>
                <a:cs typeface="Lora" pitchFamily="34" charset="-120"/>
              </a:rPr>
              <a:t> </a:t>
            </a:r>
            <a:endParaRPr lang="en-US" dirty="0">
              <a:latin typeface="Alice" panose="020B0604020202020204" charset="0"/>
              <a:ea typeface="Alice" panose="020B0604020202020204" charset="0"/>
            </a:endParaRPr>
          </a:p>
        </p:txBody>
      </p:sp>
      <p:sp>
        <p:nvSpPr>
          <p:cNvPr id="9" name="Text 6"/>
          <p:cNvSpPr/>
          <p:nvPr/>
        </p:nvSpPr>
        <p:spPr>
          <a:xfrm>
            <a:off x="3404829" y="5215869"/>
            <a:ext cx="7592139" cy="354687"/>
          </a:xfrm>
          <a:prstGeom prst="rect">
            <a:avLst/>
          </a:prstGeom>
          <a:noFill/>
          <a:ln/>
        </p:spPr>
        <p:txBody>
          <a:bodyPr wrap="none" lIns="0" tIns="0" rIns="0" bIns="0" rtlCol="0" anchor="t"/>
          <a:lstStyle/>
          <a:p>
            <a:pPr marL="0" indent="0" algn="ctr">
              <a:lnSpc>
                <a:spcPts val="2750"/>
              </a:lnSpc>
              <a:buNone/>
            </a:pPr>
            <a:endParaRPr lang="en-US" sz="1700" dirty="0"/>
          </a:p>
        </p:txBody>
      </p:sp>
      <p:sp>
        <p:nvSpPr>
          <p:cNvPr id="10" name="Text 7"/>
          <p:cNvSpPr/>
          <p:nvPr/>
        </p:nvSpPr>
        <p:spPr>
          <a:xfrm>
            <a:off x="-1549460" y="6301334"/>
            <a:ext cx="7592139" cy="1314398"/>
          </a:xfrm>
          <a:prstGeom prst="rect">
            <a:avLst/>
          </a:prstGeom>
          <a:noFill/>
          <a:ln/>
        </p:spPr>
        <p:txBody>
          <a:bodyPr wrap="square" lIns="0" tIns="0" rIns="0" bIns="0" rtlCol="0" anchor="t"/>
          <a:lstStyle/>
          <a:p>
            <a:pPr algn="ctr">
              <a:lnSpc>
                <a:spcPts val="2750"/>
              </a:lnSpc>
            </a:pPr>
            <a:r>
              <a:rPr lang="en-US" b="1" u="sng" dirty="0">
                <a:solidFill>
                  <a:srgbClr val="2C2821"/>
                </a:solidFill>
                <a:latin typeface="Lora" pitchFamily="34" charset="0"/>
                <a:ea typeface="Lora" pitchFamily="34" charset="-122"/>
                <a:cs typeface="Lora" pitchFamily="34" charset="-120"/>
              </a:rPr>
              <a:t>Under guidance of </a:t>
            </a:r>
            <a:r>
              <a:rPr lang="en-US" dirty="0">
                <a:solidFill>
                  <a:srgbClr val="2C2821"/>
                </a:solidFill>
                <a:latin typeface="Lora" pitchFamily="34" charset="0"/>
                <a:ea typeface="Lora" pitchFamily="34" charset="-122"/>
                <a:cs typeface="Lora" pitchFamily="34" charset="-120"/>
              </a:rPr>
              <a:t>:   Dr. Pradeep S. Khot</a:t>
            </a:r>
          </a:p>
          <a:p>
            <a:pPr algn="ctr">
              <a:lnSpc>
                <a:spcPts val="2750"/>
              </a:lnSpc>
            </a:pPr>
            <a:r>
              <a:rPr lang="en-US" dirty="0">
                <a:solidFill>
                  <a:srgbClr val="2C2821"/>
                </a:solidFill>
                <a:latin typeface="Lora" pitchFamily="34" charset="0"/>
                <a:ea typeface="Lora" pitchFamily="34" charset="-122"/>
                <a:cs typeface="Lora" pitchFamily="34" charset="-120"/>
              </a:rPr>
              <a:t>                                   Mrs. Sapana Buwa</a:t>
            </a:r>
          </a:p>
          <a:p>
            <a:pPr marL="0" indent="0" algn="ctr">
              <a:lnSpc>
                <a:spcPts val="2750"/>
              </a:lnSpc>
              <a:buNone/>
            </a:pPr>
            <a:r>
              <a:rPr lang="en-US" dirty="0">
                <a:solidFill>
                  <a:srgbClr val="2C2821"/>
                </a:solidFill>
                <a:latin typeface="Lora" pitchFamily="34" charset="0"/>
                <a:ea typeface="Lora" pitchFamily="34" charset="-122"/>
                <a:cs typeface="Lora" pitchFamily="34" charset="-120"/>
              </a:rPr>
              <a:t>                                      </a:t>
            </a:r>
            <a:endParaRPr lang="en-US" dirty="0"/>
          </a:p>
        </p:txBody>
      </p:sp>
      <p:sp>
        <p:nvSpPr>
          <p:cNvPr id="11" name="Text 8"/>
          <p:cNvSpPr/>
          <p:nvPr/>
        </p:nvSpPr>
        <p:spPr>
          <a:xfrm flipV="1">
            <a:off x="6262330" y="7219356"/>
            <a:ext cx="7592139" cy="45719"/>
          </a:xfrm>
          <a:prstGeom prst="rect">
            <a:avLst/>
          </a:prstGeom>
          <a:noFill/>
          <a:ln/>
        </p:spPr>
        <p:txBody>
          <a:bodyPr wrap="none" lIns="0" tIns="0" rIns="0" bIns="0" rtlCol="0" anchor="t"/>
          <a:lstStyle/>
          <a:p>
            <a:pPr marL="0" indent="0" algn="ctr">
              <a:lnSpc>
                <a:spcPts val="2750"/>
              </a:lnSpc>
              <a:buNone/>
            </a:pPr>
            <a:endParaRPr lang="en-US" sz="1700" dirty="0"/>
          </a:p>
        </p:txBody>
      </p:sp>
      <p:pic>
        <p:nvPicPr>
          <p:cNvPr id="14" name="Picture 13">
            <a:extLst>
              <a:ext uri="{FF2B5EF4-FFF2-40B4-BE49-F238E27FC236}">
                <a16:creationId xmlns:a16="http://schemas.microsoft.com/office/drawing/2014/main" id="{EF593733-8A9A-5641-7E37-5D7D68E16A00}"/>
              </a:ext>
            </a:extLst>
          </p:cNvPr>
          <p:cNvPicPr>
            <a:picLocks noChangeAspect="1"/>
          </p:cNvPicPr>
          <p:nvPr/>
        </p:nvPicPr>
        <p:blipFill>
          <a:blip r:embed="rId3"/>
          <a:stretch>
            <a:fillRect/>
          </a:stretch>
        </p:blipFill>
        <p:spPr>
          <a:xfrm>
            <a:off x="12358725" y="7158736"/>
            <a:ext cx="2165131" cy="1010244"/>
          </a:xfrm>
          <a:prstGeom prst="rect">
            <a:avLst/>
          </a:prstGeom>
        </p:spPr>
      </p:pic>
      <p:pic>
        <p:nvPicPr>
          <p:cNvPr id="1026" name="Picture 2" descr="The Best Timetable Management Systems">
            <a:extLst>
              <a:ext uri="{FF2B5EF4-FFF2-40B4-BE49-F238E27FC236}">
                <a16:creationId xmlns:a16="http://schemas.microsoft.com/office/drawing/2014/main" id="{92FC25EC-2A00-E733-E235-4588007454B7}"/>
              </a:ext>
            </a:extLst>
          </p:cNvPr>
          <p:cNvPicPr>
            <a:picLocks noChangeAspect="1" noChangeArrowheads="1"/>
          </p:cNvPicPr>
          <p:nvPr/>
        </p:nvPicPr>
        <p:blipFill>
          <a:blip r:embed="rId4">
            <a:alphaModFix amt="85000"/>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705428" y="2996400"/>
            <a:ext cx="8516212" cy="47880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76068" y="408652"/>
            <a:ext cx="8418314" cy="508516"/>
          </a:xfrm>
          <a:prstGeom prst="rect">
            <a:avLst/>
          </a:prstGeom>
          <a:noFill/>
          <a:ln/>
        </p:spPr>
        <p:txBody>
          <a:bodyPr wrap="none" lIns="0" tIns="0" rIns="0" bIns="0" rtlCol="0" anchor="t"/>
          <a:lstStyle/>
          <a:p>
            <a:pPr marL="0" indent="0" algn="l">
              <a:lnSpc>
                <a:spcPts val="4000"/>
              </a:lnSpc>
              <a:buNone/>
            </a:pPr>
            <a:r>
              <a:rPr lang="en-US" sz="3800" u="sng" dirty="0">
                <a:solidFill>
                  <a:srgbClr val="233E32"/>
                </a:solidFill>
                <a:latin typeface="Alice" pitchFamily="34" charset="0"/>
                <a:ea typeface="Alice" pitchFamily="34" charset="-122"/>
                <a:cs typeface="Alice" pitchFamily="34" charset="-120"/>
              </a:rPr>
              <a:t>Introduction</a:t>
            </a:r>
            <a:endParaRPr lang="en-US" sz="3800" u="sng" dirty="0"/>
          </a:p>
        </p:txBody>
      </p:sp>
      <p:sp>
        <p:nvSpPr>
          <p:cNvPr id="3" name="Text 1"/>
          <p:cNvSpPr/>
          <p:nvPr/>
        </p:nvSpPr>
        <p:spPr>
          <a:xfrm>
            <a:off x="231689" y="1411545"/>
            <a:ext cx="13844356" cy="5889577"/>
          </a:xfrm>
          <a:prstGeom prst="rect">
            <a:avLst/>
          </a:prstGeom>
          <a:noFill/>
          <a:ln/>
        </p:spPr>
        <p:txBody>
          <a:bodyPr wrap="none" lIns="0" tIns="0" rIns="0" bIns="0" rtlCol="0" anchor="t"/>
          <a:lstStyle/>
          <a:p>
            <a:pPr>
              <a:lnSpc>
                <a:spcPts val="2050"/>
              </a:lnSpc>
              <a:buSzPct val="100000"/>
            </a:pPr>
            <a:r>
              <a:rPr lang="en-US" sz="2800" b="1" dirty="0">
                <a:solidFill>
                  <a:srgbClr val="2C2821"/>
                </a:solidFill>
                <a:latin typeface="Lora" pitchFamily="34" charset="0"/>
                <a:ea typeface="Lora" pitchFamily="34" charset="-122"/>
                <a:cs typeface="Lora" pitchFamily="34" charset="-120"/>
              </a:rPr>
              <a:t>Overview of the Project</a:t>
            </a:r>
          </a:p>
          <a:p>
            <a:pPr>
              <a:lnSpc>
                <a:spcPts val="2050"/>
              </a:lnSpc>
              <a:buSzPct val="100000"/>
            </a:pPr>
            <a:endParaRPr lang="en-US" sz="2800" b="1" dirty="0">
              <a:solidFill>
                <a:srgbClr val="2C2821"/>
              </a:solidFill>
              <a:latin typeface="Lora" pitchFamily="34" charset="0"/>
              <a:ea typeface="Lora" pitchFamily="34" charset="-122"/>
              <a:cs typeface="Lora" pitchFamily="34" charset="-120"/>
            </a:endParaRP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This project focuses on managing faculty timetables and duties in a college.</a:t>
            </a: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It provides a centralized system for scheduling lectures, labs, and duties.</a:t>
            </a: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The system reduces manual work and improves efficiency.</a:t>
            </a:r>
          </a:p>
          <a:p>
            <a:pPr marL="285750" indent="-285750">
              <a:lnSpc>
                <a:spcPts val="2050"/>
              </a:lnSpc>
              <a:buSzPct val="100000"/>
              <a:buFont typeface="Arial" panose="020B0604020202020204" pitchFamily="34" charset="0"/>
              <a:buChar char="•"/>
            </a:pPr>
            <a:endParaRPr lang="en-US"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b="1" dirty="0">
              <a:solidFill>
                <a:srgbClr val="2C2821"/>
              </a:solidFill>
              <a:latin typeface="Lora" pitchFamily="34" charset="0"/>
              <a:ea typeface="Lora" pitchFamily="34" charset="-122"/>
              <a:cs typeface="Lora" pitchFamily="34" charset="-120"/>
            </a:endParaRPr>
          </a:p>
          <a:p>
            <a:pPr>
              <a:lnSpc>
                <a:spcPts val="2050"/>
              </a:lnSpc>
              <a:buSzPct val="100000"/>
            </a:pPr>
            <a:r>
              <a:rPr lang="en-US" sz="2800" b="1" dirty="0">
                <a:solidFill>
                  <a:srgbClr val="2C2821"/>
                </a:solidFill>
                <a:latin typeface="Lora" pitchFamily="34" charset="0"/>
                <a:ea typeface="Lora" pitchFamily="34" charset="-122"/>
                <a:cs typeface="Lora" pitchFamily="34" charset="-120"/>
              </a:rPr>
              <a:t>Why This Project Topic</a:t>
            </a:r>
          </a:p>
          <a:p>
            <a:pPr>
              <a:lnSpc>
                <a:spcPts val="2050"/>
              </a:lnSpc>
              <a:buSzPct val="100000"/>
            </a:pPr>
            <a:endParaRPr lang="en-US" dirty="0">
              <a:solidFill>
                <a:srgbClr val="2C2821"/>
              </a:solidFill>
              <a:latin typeface="Lora" pitchFamily="34" charset="0"/>
              <a:ea typeface="Lora" pitchFamily="34" charset="-122"/>
              <a:cs typeface="Lora" pitchFamily="34" charset="-120"/>
            </a:endParaRPr>
          </a:p>
          <a:p>
            <a:pPr>
              <a:lnSpc>
                <a:spcPts val="2050"/>
              </a:lnSpc>
              <a:buSzPct val="100000"/>
            </a:pPr>
            <a:endParaRPr lang="en-US" dirty="0">
              <a:solidFill>
                <a:srgbClr val="2C2821"/>
              </a:solidFill>
              <a:latin typeface="Lora" pitchFamily="34" charset="0"/>
              <a:ea typeface="Lora" pitchFamily="34" charset="-122"/>
              <a:cs typeface="Lora" pitchFamily="34" charset="-120"/>
            </a:endParaRPr>
          </a:p>
          <a:p>
            <a:pPr>
              <a:lnSpc>
                <a:spcPts val="2050"/>
              </a:lnSpc>
              <a:buSzPct val="100000"/>
            </a:pPr>
            <a:endParaRPr lang="en-US"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1250" dirty="0">
              <a:solidFill>
                <a:srgbClr val="2C2821"/>
              </a:solidFill>
              <a:latin typeface="Lora" pitchFamily="34" charset="0"/>
              <a:ea typeface="Lora" pitchFamily="34" charset="-122"/>
              <a:cs typeface="Lora" pitchFamily="34" charset="-120"/>
            </a:endParaRPr>
          </a:p>
          <a:p>
            <a:pPr>
              <a:lnSpc>
                <a:spcPts val="2050"/>
              </a:lnSpc>
              <a:buSzPct val="100000"/>
            </a:pPr>
            <a:endParaRPr lang="en-US" sz="2800" b="1" dirty="0">
              <a:solidFill>
                <a:srgbClr val="2C2821"/>
              </a:solidFill>
              <a:latin typeface="Lora" pitchFamily="34" charset="0"/>
              <a:ea typeface="Lora" pitchFamily="34" charset="-122"/>
              <a:cs typeface="Lora" pitchFamily="34" charset="-120"/>
            </a:endParaRPr>
          </a:p>
          <a:p>
            <a:pPr>
              <a:lnSpc>
                <a:spcPts val="2050"/>
              </a:lnSpc>
              <a:buSzPct val="100000"/>
            </a:pPr>
            <a:r>
              <a:rPr lang="en-US" sz="2800" b="1" dirty="0">
                <a:solidFill>
                  <a:srgbClr val="2C2821"/>
                </a:solidFill>
                <a:latin typeface="Lora" pitchFamily="34" charset="0"/>
                <a:ea typeface="Lora" pitchFamily="34" charset="-122"/>
                <a:cs typeface="Lora" pitchFamily="34" charset="-120"/>
              </a:rPr>
              <a:t>Objectives</a:t>
            </a:r>
          </a:p>
          <a:p>
            <a:pPr>
              <a:lnSpc>
                <a:spcPts val="2050"/>
              </a:lnSpc>
              <a:buSzPct val="100000"/>
            </a:pPr>
            <a:endParaRPr lang="en-US" sz="2800" b="1" dirty="0">
              <a:solidFill>
                <a:srgbClr val="2C2821"/>
              </a:solidFill>
              <a:latin typeface="Lora" pitchFamily="34" charset="0"/>
              <a:ea typeface="Lora" pitchFamily="34" charset="-122"/>
              <a:cs typeface="Lora" pitchFamily="34" charset="-120"/>
            </a:endParaRP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To automate faculty timetable generation.</a:t>
            </a: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To manage teaching and non-teaching duties efficiently.</a:t>
            </a: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To reduce scheduling conflicts and manual errors.</a:t>
            </a:r>
          </a:p>
          <a:p>
            <a:pPr marL="285750" indent="-285750">
              <a:lnSpc>
                <a:spcPts val="2050"/>
              </a:lnSpc>
              <a:buSzPct val="100000"/>
              <a:buFont typeface="Arial" panose="020B0604020202020204" pitchFamily="34" charset="0"/>
              <a:buChar char="•"/>
            </a:pP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To reduce </a:t>
            </a:r>
            <a:r>
              <a:rPr lang="en-US" dirty="0" err="1">
                <a:solidFill>
                  <a:srgbClr val="2C2821"/>
                </a:solidFill>
                <a:latin typeface="Calibri" panose="020F0502020204030204" pitchFamily="34" charset="0"/>
                <a:ea typeface="Calibri" panose="020F0502020204030204" pitchFamily="34" charset="0"/>
                <a:cs typeface="Calibri" panose="020F0502020204030204" pitchFamily="34" charset="0"/>
              </a:rPr>
              <a:t>faculty,room</a:t>
            </a:r>
            <a:r>
              <a:rPr lang="en-US" dirty="0">
                <a:solidFill>
                  <a:srgbClr val="2C2821"/>
                </a:solidFill>
                <a:latin typeface="Calibri" panose="020F0502020204030204" pitchFamily="34" charset="0"/>
                <a:ea typeface="Calibri" panose="020F0502020204030204" pitchFamily="34" charset="0"/>
                <a:cs typeface="Calibri" panose="020F0502020204030204" pitchFamily="34" charset="0"/>
              </a:rPr>
              <a:t> and division scheduling clashes.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p:cNvSpPr/>
          <p:nvPr/>
        </p:nvSpPr>
        <p:spPr>
          <a:xfrm>
            <a:off x="569476" y="3140393"/>
            <a:ext cx="2311241" cy="260390"/>
          </a:xfrm>
          <a:prstGeom prst="rect">
            <a:avLst/>
          </a:prstGeom>
          <a:noFill/>
          <a:ln/>
        </p:spPr>
        <p:txBody>
          <a:bodyPr wrap="none" lIns="0" tIns="0" rIns="0" bIns="0" rtlCol="0" anchor="t"/>
          <a:lstStyle/>
          <a:p>
            <a:pPr marL="0" indent="0" algn="l">
              <a:lnSpc>
                <a:spcPts val="2050"/>
              </a:lnSpc>
              <a:buNone/>
            </a:pPr>
            <a:endParaRPr lang="en-US" sz="1250" dirty="0"/>
          </a:p>
        </p:txBody>
      </p:sp>
      <p:sp>
        <p:nvSpPr>
          <p:cNvPr id="10" name="Text 7"/>
          <p:cNvSpPr/>
          <p:nvPr/>
        </p:nvSpPr>
        <p:spPr>
          <a:xfrm>
            <a:off x="11764804" y="3140393"/>
            <a:ext cx="2311241" cy="260390"/>
          </a:xfrm>
          <a:prstGeom prst="rect">
            <a:avLst/>
          </a:prstGeom>
          <a:noFill/>
          <a:ln/>
        </p:spPr>
        <p:txBody>
          <a:bodyPr wrap="none" lIns="0" tIns="0" rIns="0" bIns="0" rtlCol="0" anchor="t"/>
          <a:lstStyle/>
          <a:p>
            <a:pPr marL="0" indent="0" algn="l">
              <a:lnSpc>
                <a:spcPts val="2050"/>
              </a:lnSpc>
              <a:buNone/>
            </a:pPr>
            <a:endParaRPr lang="en-US" sz="1250" dirty="0"/>
          </a:p>
        </p:txBody>
      </p:sp>
      <p:pic>
        <p:nvPicPr>
          <p:cNvPr id="11" name="Picture 10">
            <a:extLst>
              <a:ext uri="{FF2B5EF4-FFF2-40B4-BE49-F238E27FC236}">
                <a16:creationId xmlns:a16="http://schemas.microsoft.com/office/drawing/2014/main" id="{BC4C0647-C76E-EBBC-88CB-389C69F8E856}"/>
              </a:ext>
            </a:extLst>
          </p:cNvPr>
          <p:cNvPicPr>
            <a:picLocks noChangeAspect="1"/>
          </p:cNvPicPr>
          <p:nvPr/>
        </p:nvPicPr>
        <p:blipFill>
          <a:blip r:embed="rId3"/>
          <a:stretch>
            <a:fillRect/>
          </a:stretch>
        </p:blipFill>
        <p:spPr>
          <a:xfrm>
            <a:off x="12454758" y="7301122"/>
            <a:ext cx="2175641" cy="859689"/>
          </a:xfrm>
          <a:prstGeom prst="rect">
            <a:avLst/>
          </a:prstGeom>
        </p:spPr>
      </p:pic>
      <p:pic>
        <p:nvPicPr>
          <p:cNvPr id="2050" name="Picture 2" descr="Online Time table management system">
            <a:extLst>
              <a:ext uri="{FF2B5EF4-FFF2-40B4-BE49-F238E27FC236}">
                <a16:creationId xmlns:a16="http://schemas.microsoft.com/office/drawing/2014/main" id="{DF7D3CDD-AAA4-CD0F-E851-09441D0890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7071" y="2556270"/>
            <a:ext cx="5456151" cy="393697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0FEFF2CE-7389-C732-B4D0-DBBB06AB6B91}"/>
              </a:ext>
            </a:extLst>
          </p:cNvPr>
          <p:cNvGraphicFramePr>
            <a:graphicFrameLocks noGrp="1"/>
          </p:cNvGraphicFramePr>
          <p:nvPr>
            <p:extLst>
              <p:ext uri="{D42A27DB-BD31-4B8C-83A1-F6EECF244321}">
                <p14:modId xmlns:p14="http://schemas.microsoft.com/office/powerpoint/2010/main" val="101907800"/>
              </p:ext>
            </p:extLst>
          </p:nvPr>
        </p:nvGraphicFramePr>
        <p:xfrm>
          <a:off x="210715" y="3593836"/>
          <a:ext cx="8190416" cy="2469964"/>
        </p:xfrm>
        <a:graphic>
          <a:graphicData uri="http://schemas.openxmlformats.org/drawingml/2006/table">
            <a:tbl>
              <a:tblPr firstRow="1" bandRow="1">
                <a:tableStyleId>{5C22544A-7EE6-4342-B048-85BDC9FD1C3A}</a:tableStyleId>
              </a:tblPr>
              <a:tblGrid>
                <a:gridCol w="4095208">
                  <a:extLst>
                    <a:ext uri="{9D8B030D-6E8A-4147-A177-3AD203B41FA5}">
                      <a16:colId xmlns:a16="http://schemas.microsoft.com/office/drawing/2014/main" val="2490180444"/>
                    </a:ext>
                  </a:extLst>
                </a:gridCol>
                <a:gridCol w="4095208">
                  <a:extLst>
                    <a:ext uri="{9D8B030D-6E8A-4147-A177-3AD203B41FA5}">
                      <a16:colId xmlns:a16="http://schemas.microsoft.com/office/drawing/2014/main" val="101006228"/>
                    </a:ext>
                  </a:extLst>
                </a:gridCol>
              </a:tblGrid>
              <a:tr h="260605">
                <a:tc>
                  <a:txBody>
                    <a:bodyPr/>
                    <a:lstStyle/>
                    <a:p>
                      <a:pPr>
                        <a:buNone/>
                      </a:pPr>
                      <a:r>
                        <a:rPr lang="en-IN" b="1" dirty="0"/>
                        <a:t>           Problem in Manual System</a:t>
                      </a:r>
                      <a:endParaRPr lang="en-IN" dirty="0"/>
                    </a:p>
                  </a:txBody>
                  <a:tcPr anchor="ctr"/>
                </a:tc>
                <a:tc>
                  <a:txBody>
                    <a:bodyPr/>
                    <a:lstStyle/>
                    <a:p>
                      <a:r>
                        <a:rPr lang="en-IN" dirty="0"/>
                        <a:t>                Solution in Our System</a:t>
                      </a:r>
                    </a:p>
                  </a:txBody>
                  <a:tcPr/>
                </a:tc>
                <a:extLst>
                  <a:ext uri="{0D108BD9-81ED-4DB2-BD59-A6C34878D82A}">
                    <a16:rowId xmlns:a16="http://schemas.microsoft.com/office/drawing/2014/main" val="3949942068"/>
                  </a:ext>
                </a:extLst>
              </a:tr>
              <a:tr h="260605">
                <a:tc>
                  <a:txBody>
                    <a:bodyPr/>
                    <a:lstStyle/>
                    <a:p>
                      <a:pPr marL="285750" indent="-285750">
                        <a:buFont typeface="Arial" panose="020B0604020202020204" pitchFamily="34" charset="0"/>
                        <a:buChar char="•"/>
                      </a:pPr>
                      <a:r>
                        <a:rPr lang="en-IN" dirty="0"/>
                        <a:t>Time-consuming timetable creation</a:t>
                      </a:r>
                    </a:p>
                  </a:txBody>
                  <a:tcPr/>
                </a:tc>
                <a:tc>
                  <a:txBody>
                    <a:bodyPr/>
                    <a:lstStyle/>
                    <a:p>
                      <a:pPr marL="285750" indent="-285750">
                        <a:buFont typeface="Arial" panose="020B0604020202020204" pitchFamily="34" charset="0"/>
                        <a:buChar char="•"/>
                      </a:pPr>
                      <a:r>
                        <a:rPr lang="en-IN" dirty="0"/>
                        <a:t>Auto-generation &amp; manual timetable entry</a:t>
                      </a:r>
                    </a:p>
                  </a:txBody>
                  <a:tcPr/>
                </a:tc>
                <a:extLst>
                  <a:ext uri="{0D108BD9-81ED-4DB2-BD59-A6C34878D82A}">
                    <a16:rowId xmlns:a16="http://schemas.microsoft.com/office/drawing/2014/main" val="562242350"/>
                  </a:ext>
                </a:extLst>
              </a:tr>
              <a:tr h="260605">
                <a:tc>
                  <a:txBody>
                    <a:bodyPr/>
                    <a:lstStyle/>
                    <a:p>
                      <a:pPr marL="285750" indent="-285750">
                        <a:buFont typeface="Arial" panose="020B0604020202020204" pitchFamily="34" charset="0"/>
                        <a:buChar char="•"/>
                      </a:pPr>
                      <a:r>
                        <a:rPr lang="en-IN" dirty="0"/>
                        <a:t>Clashes &amp; workload imbalance</a:t>
                      </a:r>
                    </a:p>
                  </a:txBody>
                  <a:tcPr/>
                </a:tc>
                <a:tc>
                  <a:txBody>
                    <a:bodyPr/>
                    <a:lstStyle/>
                    <a:p>
                      <a:pPr marL="285750" indent="-285750">
                        <a:buFont typeface="Arial" panose="020B0604020202020204" pitchFamily="34" charset="0"/>
                        <a:buChar char="•"/>
                      </a:pPr>
                      <a:r>
                        <a:rPr lang="en-IN" dirty="0"/>
                        <a:t>Clash-free scheduling logic</a:t>
                      </a:r>
                    </a:p>
                  </a:txBody>
                  <a:tcPr/>
                </a:tc>
                <a:extLst>
                  <a:ext uri="{0D108BD9-81ED-4DB2-BD59-A6C34878D82A}">
                    <a16:rowId xmlns:a16="http://schemas.microsoft.com/office/drawing/2014/main" val="1225688869"/>
                  </a:ext>
                </a:extLst>
              </a:tr>
              <a:tr h="0">
                <a:tc>
                  <a:txBody>
                    <a:bodyPr/>
                    <a:lstStyle/>
                    <a:p>
                      <a:pPr marL="285750" indent="-285750">
                        <a:buFont typeface="Arial" panose="020B0604020202020204" pitchFamily="34" charset="0"/>
                        <a:buChar char="•"/>
                      </a:pPr>
                      <a:r>
                        <a:rPr lang="en-US" dirty="0"/>
                        <a:t>Hard to track leaves &amp; duties</a:t>
                      </a:r>
                      <a:endParaRPr lang="en-IN" dirty="0"/>
                    </a:p>
                  </a:txBody>
                  <a:tcPr/>
                </a:tc>
                <a:tc>
                  <a:txBody>
                    <a:bodyPr/>
                    <a:lstStyle/>
                    <a:p>
                      <a:pPr marL="285750" indent="-285750">
                        <a:buFont typeface="Arial" panose="020B0604020202020204" pitchFamily="34" charset="0"/>
                        <a:buChar char="•"/>
                      </a:pPr>
                      <a:r>
                        <a:rPr lang="en-IN" dirty="0"/>
                        <a:t>Centralized leave &amp; duty management</a:t>
                      </a:r>
                    </a:p>
                  </a:txBody>
                  <a:tcPr/>
                </a:tc>
                <a:extLst>
                  <a:ext uri="{0D108BD9-81ED-4DB2-BD59-A6C34878D82A}">
                    <a16:rowId xmlns:a16="http://schemas.microsoft.com/office/drawing/2014/main" val="1993047539"/>
                  </a:ext>
                </a:extLst>
              </a:tr>
              <a:tr h="732604">
                <a:tc>
                  <a:txBody>
                    <a:bodyPr/>
                    <a:lstStyle/>
                    <a:p>
                      <a:pPr marL="285750" indent="-285750">
                        <a:buFont typeface="Arial" panose="020B0604020202020204" pitchFamily="34" charset="0"/>
                        <a:buChar char="•"/>
                      </a:pPr>
                      <a:r>
                        <a:rPr lang="en-IN" dirty="0"/>
                        <a:t>No role-based access</a:t>
                      </a:r>
                    </a:p>
                  </a:txBody>
                  <a:tcPr/>
                </a:tc>
                <a:tc>
                  <a:txBody>
                    <a:bodyPr/>
                    <a:lstStyle/>
                    <a:p>
                      <a:pPr marL="285750" indent="-285750">
                        <a:buFont typeface="Arial" panose="020B0604020202020204" pitchFamily="34" charset="0"/>
                        <a:buChar char="•"/>
                      </a:pPr>
                      <a:r>
                        <a:rPr lang="en-US" dirty="0"/>
                        <a:t>Secure login with Admin/Faculty/Student roles</a:t>
                      </a:r>
                      <a:endParaRPr lang="en-IN" dirty="0"/>
                    </a:p>
                  </a:txBody>
                  <a:tcPr/>
                </a:tc>
                <a:extLst>
                  <a:ext uri="{0D108BD9-81ED-4DB2-BD59-A6C34878D82A}">
                    <a16:rowId xmlns:a16="http://schemas.microsoft.com/office/drawing/2014/main" val="219703026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8ECCF1-0033-651E-5DE1-E1F04F6E9C66}"/>
              </a:ext>
            </a:extLst>
          </p:cNvPr>
          <p:cNvSpPr txBox="1"/>
          <p:nvPr/>
        </p:nvSpPr>
        <p:spPr>
          <a:xfrm>
            <a:off x="360947" y="240632"/>
            <a:ext cx="3850106" cy="584775"/>
          </a:xfrm>
          <a:prstGeom prst="rect">
            <a:avLst/>
          </a:prstGeom>
          <a:noFill/>
        </p:spPr>
        <p:txBody>
          <a:bodyPr wrap="square" rtlCol="0">
            <a:spAutoFit/>
          </a:bodyPr>
          <a:lstStyle/>
          <a:p>
            <a:r>
              <a:rPr lang="en-US" sz="3200" u="sng" dirty="0">
                <a:latin typeface="Alice" panose="020B0604020202020204" charset="0"/>
                <a:ea typeface="Alice" panose="020B0604020202020204" charset="0"/>
              </a:rPr>
              <a:t>Problem Statement</a:t>
            </a:r>
            <a:endParaRPr lang="en-IN" sz="3200" u="sng" dirty="0">
              <a:latin typeface="Alice" panose="020B0604020202020204" charset="0"/>
              <a:ea typeface="Alice" panose="020B0604020202020204" charset="0"/>
            </a:endParaRPr>
          </a:p>
        </p:txBody>
      </p:sp>
      <p:sp>
        <p:nvSpPr>
          <p:cNvPr id="3" name="TextBox 2">
            <a:extLst>
              <a:ext uri="{FF2B5EF4-FFF2-40B4-BE49-F238E27FC236}">
                <a16:creationId xmlns:a16="http://schemas.microsoft.com/office/drawing/2014/main" id="{89FBC0C3-4D20-7F7A-B961-E7E69196C001}"/>
              </a:ext>
            </a:extLst>
          </p:cNvPr>
          <p:cNvSpPr txBox="1"/>
          <p:nvPr/>
        </p:nvSpPr>
        <p:spPr>
          <a:xfrm>
            <a:off x="252663" y="1167063"/>
            <a:ext cx="11827042" cy="5539978"/>
          </a:xfrm>
          <a:prstGeom prst="rect">
            <a:avLst/>
          </a:prstGeom>
          <a:noFill/>
        </p:spPr>
        <p:txBody>
          <a:bodyPr wrap="square" rtlCol="0">
            <a:spAutoFit/>
          </a:bodyPr>
          <a:lstStyle/>
          <a:p>
            <a:pPr marL="342900" indent="-342900">
              <a:buFont typeface="Arial" panose="020B0604020202020204" pitchFamily="34" charset="0"/>
              <a:buChar char="•"/>
            </a:pPr>
            <a:r>
              <a:rPr lang="en-US" sz="2400" dirty="0"/>
              <a:t>Traditional faculty and departmental management systems mainly depend on manual record keeping, which leads to inefficiency, increased paperwork, and difficulty in managing large amounts of data.</a:t>
            </a:r>
          </a:p>
          <a:p>
            <a:pPr marL="342900" indent="-342900">
              <a:buFont typeface="Arial" panose="020B0604020202020204" pitchFamily="34" charset="0"/>
              <a:buChar char="•"/>
            </a:pPr>
            <a:r>
              <a:rPr lang="en-US" sz="2400" dirty="0"/>
              <a:t>Manual timetable preparation and duty allocation often result in scheduling conflicts, workload imbalance, and human errors that affect departmental operations.</a:t>
            </a:r>
          </a:p>
          <a:p>
            <a:pPr marL="342900" indent="-342900">
              <a:buFont typeface="Arial" panose="020B0604020202020204" pitchFamily="34" charset="0"/>
              <a:buChar char="•"/>
            </a:pPr>
            <a:r>
              <a:rPr lang="en-US" sz="2400" dirty="0"/>
              <a:t>Lack of a centralized system makes it difficult to manage faculty, subjects, divisions, rooms, leave records, duties, and timetable entries efficiently.</a:t>
            </a:r>
          </a:p>
          <a:p>
            <a:pPr marL="342900" indent="-342900">
              <a:buFont typeface="Arial" panose="020B0604020202020204" pitchFamily="34" charset="0"/>
              <a:buChar char="•"/>
            </a:pPr>
            <a:r>
              <a:rPr lang="en-US" sz="2400" dirty="0"/>
              <a:t>Generating timetable reports and maintaining records manually becomes time-consuming and less accurate in traditional systems.</a:t>
            </a:r>
          </a:p>
          <a:p>
            <a:pPr marL="342900" indent="-342900">
              <a:buFont typeface="Arial" panose="020B0604020202020204" pitchFamily="34" charset="0"/>
              <a:buChar char="•"/>
            </a:pPr>
            <a:r>
              <a:rPr lang="en-US" sz="2400" dirty="0"/>
              <a:t>Managing faculty workload, room allocation, and subject scheduling manually can reduce overall departmental productivity and consume more administrative effort.</a:t>
            </a:r>
          </a:p>
          <a:p>
            <a:pPr marL="342900" indent="-342900">
              <a:buFont typeface="Arial" panose="020B0604020202020204" pitchFamily="34" charset="0"/>
              <a:buChar char="•"/>
            </a:pPr>
            <a:r>
              <a:rPr lang="en-US" sz="2400" dirty="0"/>
              <a:t>Therefore, there is a need for an automated Department Faculty and Duty Management System that can simplify administrative tasks, improve accuracy, reduce manual workload, and enhance overall departmental efficiency.</a:t>
            </a:r>
          </a:p>
          <a:p>
            <a:endParaRPr lang="en-IN" dirty="0"/>
          </a:p>
        </p:txBody>
      </p:sp>
      <p:pic>
        <p:nvPicPr>
          <p:cNvPr id="5" name="Picture 4">
            <a:extLst>
              <a:ext uri="{FF2B5EF4-FFF2-40B4-BE49-F238E27FC236}">
                <a16:creationId xmlns:a16="http://schemas.microsoft.com/office/drawing/2014/main" id="{312B23A2-3971-7471-DC3C-D731D05B2A46}"/>
              </a:ext>
            </a:extLst>
          </p:cNvPr>
          <p:cNvPicPr>
            <a:picLocks noChangeAspect="1"/>
          </p:cNvPicPr>
          <p:nvPr/>
        </p:nvPicPr>
        <p:blipFill>
          <a:blip r:embed="rId2"/>
          <a:stretch>
            <a:fillRect/>
          </a:stretch>
        </p:blipFill>
        <p:spPr>
          <a:xfrm>
            <a:off x="12460036" y="7217576"/>
            <a:ext cx="2170364" cy="1012024"/>
          </a:xfrm>
          <a:prstGeom prst="rect">
            <a:avLst/>
          </a:prstGeom>
        </p:spPr>
      </p:pic>
    </p:spTree>
    <p:extLst>
      <p:ext uri="{BB962C8B-B14F-4D97-AF65-F5344CB8AC3E}">
        <p14:creationId xmlns:p14="http://schemas.microsoft.com/office/powerpoint/2010/main" val="457944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7A163A-A311-021A-8957-E211723AB31F}"/>
              </a:ext>
            </a:extLst>
          </p:cNvPr>
          <p:cNvSpPr txBox="1"/>
          <p:nvPr/>
        </p:nvSpPr>
        <p:spPr>
          <a:xfrm>
            <a:off x="168441" y="192505"/>
            <a:ext cx="4487779" cy="646331"/>
          </a:xfrm>
          <a:prstGeom prst="rect">
            <a:avLst/>
          </a:prstGeom>
          <a:noFill/>
        </p:spPr>
        <p:txBody>
          <a:bodyPr wrap="square" rtlCol="0">
            <a:spAutoFit/>
          </a:bodyPr>
          <a:lstStyle/>
          <a:p>
            <a:r>
              <a:rPr lang="en-US" sz="3600" u="sng" dirty="0">
                <a:latin typeface="Alice" panose="020B0604020202020204" charset="0"/>
                <a:ea typeface="Alice" panose="020B0604020202020204" charset="0"/>
              </a:rPr>
              <a:t>Where we can use?</a:t>
            </a:r>
            <a:endParaRPr lang="en-IN" sz="3600" u="sng" dirty="0">
              <a:latin typeface="Alice" panose="020B0604020202020204" charset="0"/>
              <a:ea typeface="Alice" panose="020B0604020202020204" charset="0"/>
            </a:endParaRPr>
          </a:p>
        </p:txBody>
      </p:sp>
      <p:pic>
        <p:nvPicPr>
          <p:cNvPr id="5" name="Picture 4">
            <a:extLst>
              <a:ext uri="{FF2B5EF4-FFF2-40B4-BE49-F238E27FC236}">
                <a16:creationId xmlns:a16="http://schemas.microsoft.com/office/drawing/2014/main" id="{44462211-52AF-EAED-8B47-7E86C7548F4A}"/>
              </a:ext>
            </a:extLst>
          </p:cNvPr>
          <p:cNvPicPr>
            <a:picLocks noChangeAspect="1"/>
          </p:cNvPicPr>
          <p:nvPr/>
        </p:nvPicPr>
        <p:blipFill>
          <a:blip r:embed="rId2"/>
          <a:stretch>
            <a:fillRect/>
          </a:stretch>
        </p:blipFill>
        <p:spPr>
          <a:xfrm>
            <a:off x="12460036" y="7217576"/>
            <a:ext cx="2170364" cy="1012024"/>
          </a:xfrm>
          <a:prstGeom prst="rect">
            <a:avLst/>
          </a:prstGeom>
        </p:spPr>
      </p:pic>
      <p:sp>
        <p:nvSpPr>
          <p:cNvPr id="6" name="TextBox 5">
            <a:extLst>
              <a:ext uri="{FF2B5EF4-FFF2-40B4-BE49-F238E27FC236}">
                <a16:creationId xmlns:a16="http://schemas.microsoft.com/office/drawing/2014/main" id="{9AC79791-E253-2C30-9A7B-000B5CAE7321}"/>
              </a:ext>
            </a:extLst>
          </p:cNvPr>
          <p:cNvSpPr txBox="1"/>
          <p:nvPr/>
        </p:nvSpPr>
        <p:spPr>
          <a:xfrm>
            <a:off x="360947" y="1067642"/>
            <a:ext cx="13908506" cy="6555641"/>
          </a:xfrm>
          <a:prstGeom prst="rect">
            <a:avLst/>
          </a:prstGeom>
          <a:noFill/>
        </p:spPr>
        <p:txBody>
          <a:bodyPr wrap="square" rtlCol="0">
            <a:spAutoFit/>
          </a:bodyPr>
          <a:lstStyle/>
          <a:p>
            <a:pPr marL="342900" indent="-342900">
              <a:buFont typeface="Arial" panose="020B0604020202020204" pitchFamily="34" charset="0"/>
              <a:buChar char="•"/>
            </a:pPr>
            <a:r>
              <a:rPr lang="en-US" sz="2400" b="1" dirty="0"/>
              <a:t>Educational Institutions</a:t>
            </a:r>
          </a:p>
          <a:p>
            <a:r>
              <a:rPr lang="en-US" sz="2400" dirty="0"/>
              <a:t>  Department Faculty and Duty Management System can be used in colleges, universities, schools, and polytechnic institutes to manage faculty records, timetable scheduling, subject allocation, and departmental duties efficiently.</a:t>
            </a:r>
          </a:p>
          <a:p>
            <a:pPr marL="342900" indent="-342900">
              <a:buFont typeface="Arial" panose="020B0604020202020204" pitchFamily="34" charset="0"/>
              <a:buChar char="•"/>
            </a:pPr>
            <a:r>
              <a:rPr lang="en-US" sz="2400" b="1" dirty="0"/>
              <a:t>Department Administration</a:t>
            </a:r>
          </a:p>
          <a:p>
            <a:r>
              <a:rPr lang="en-US" sz="2400" b="1" dirty="0"/>
              <a:t>  </a:t>
            </a:r>
            <a:r>
              <a:rPr lang="en-US" sz="2400" dirty="0"/>
              <a:t>The system is useful for department offices to automate faculty workload management, timetable generation, leave management, duty assignment, and academic planning activities.</a:t>
            </a:r>
          </a:p>
          <a:p>
            <a:pPr marL="342900" indent="-342900">
              <a:buFont typeface="Arial" panose="020B0604020202020204" pitchFamily="34" charset="0"/>
              <a:buChar char="•"/>
            </a:pPr>
            <a:r>
              <a:rPr lang="en-US" sz="2400" b="1" dirty="0"/>
              <a:t>Multi-Campus Institutions</a:t>
            </a:r>
          </a:p>
          <a:p>
            <a:r>
              <a:rPr lang="en-US" sz="2400" dirty="0"/>
              <a:t>  Large educational organizations with multiple campuses can use the system to centrally manage faculty information, schedules, and departmental operations across different locations.</a:t>
            </a:r>
          </a:p>
          <a:p>
            <a:pPr marL="342900" indent="-342900">
              <a:buFont typeface="Arial" panose="020B0604020202020204" pitchFamily="34" charset="0"/>
              <a:buChar char="•"/>
            </a:pPr>
            <a:r>
              <a:rPr lang="en-US" sz="2400" b="1" dirty="0"/>
              <a:t>Training and Coaching Centers</a:t>
            </a:r>
          </a:p>
          <a:p>
            <a:r>
              <a:rPr lang="en-US" sz="2400" dirty="0"/>
              <a:t>  Coaching institutes and training centers can utilize the system for faculty scheduling, batch management, subject assignments, and maintaining staff records.</a:t>
            </a:r>
          </a:p>
          <a:p>
            <a:pPr marL="342900" indent="-342900">
              <a:buFont typeface="Arial" panose="020B0604020202020204" pitchFamily="34" charset="0"/>
              <a:buChar char="•"/>
            </a:pPr>
            <a:r>
              <a:rPr lang="en-US" sz="2400" b="1" dirty="0"/>
              <a:t>Government Educational Organizations</a:t>
            </a:r>
          </a:p>
          <a:p>
            <a:r>
              <a:rPr lang="en-US" sz="2400" dirty="0"/>
              <a:t>  Government education departments and public institutions can use the system to improve administrative   efficiency, maintain accurate faculty databases, and reduce manual paperwork.</a:t>
            </a:r>
          </a:p>
          <a:p>
            <a:endParaRPr lang="en-US" dirty="0"/>
          </a:p>
          <a:p>
            <a:endParaRPr lang="en-IN" dirty="0"/>
          </a:p>
        </p:txBody>
      </p:sp>
    </p:spTree>
    <p:extLst>
      <p:ext uri="{BB962C8B-B14F-4D97-AF65-F5344CB8AC3E}">
        <p14:creationId xmlns:p14="http://schemas.microsoft.com/office/powerpoint/2010/main" val="324779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467112-DEFF-C3E9-0562-E6EE19B5F087}"/>
              </a:ext>
            </a:extLst>
          </p:cNvPr>
          <p:cNvSpPr txBox="1"/>
          <p:nvPr/>
        </p:nvSpPr>
        <p:spPr>
          <a:xfrm>
            <a:off x="5787188" y="0"/>
            <a:ext cx="4535905" cy="584775"/>
          </a:xfrm>
          <a:prstGeom prst="rect">
            <a:avLst/>
          </a:prstGeom>
          <a:noFill/>
        </p:spPr>
        <p:txBody>
          <a:bodyPr wrap="square" rtlCol="0">
            <a:spAutoFit/>
          </a:bodyPr>
          <a:lstStyle/>
          <a:p>
            <a:r>
              <a:rPr lang="en-US" sz="3200" u="sng" dirty="0">
                <a:latin typeface="Alice" panose="020B0604020202020204" charset="0"/>
                <a:ea typeface="Alice" panose="020B0604020202020204" charset="0"/>
              </a:rPr>
              <a:t>Working Model</a:t>
            </a:r>
            <a:endParaRPr lang="en-IN" sz="3200" u="sng" dirty="0">
              <a:latin typeface="Alice" panose="020B0604020202020204" charset="0"/>
              <a:ea typeface="Alice" panose="020B0604020202020204" charset="0"/>
            </a:endParaRPr>
          </a:p>
        </p:txBody>
      </p:sp>
      <p:pic>
        <p:nvPicPr>
          <p:cNvPr id="4" name="Picture 3">
            <a:extLst>
              <a:ext uri="{FF2B5EF4-FFF2-40B4-BE49-F238E27FC236}">
                <a16:creationId xmlns:a16="http://schemas.microsoft.com/office/drawing/2014/main" id="{20C336D8-066F-0947-861D-A0CDD0E1342A}"/>
              </a:ext>
            </a:extLst>
          </p:cNvPr>
          <p:cNvPicPr>
            <a:picLocks noChangeAspect="1"/>
          </p:cNvPicPr>
          <p:nvPr/>
        </p:nvPicPr>
        <p:blipFill>
          <a:blip r:embed="rId2"/>
          <a:stretch>
            <a:fillRect/>
          </a:stretch>
        </p:blipFill>
        <p:spPr>
          <a:xfrm>
            <a:off x="115051" y="685799"/>
            <a:ext cx="4878054" cy="3429001"/>
          </a:xfrm>
          <a:prstGeom prst="rect">
            <a:avLst/>
          </a:prstGeom>
        </p:spPr>
      </p:pic>
      <p:pic>
        <p:nvPicPr>
          <p:cNvPr id="6" name="Picture 5">
            <a:extLst>
              <a:ext uri="{FF2B5EF4-FFF2-40B4-BE49-F238E27FC236}">
                <a16:creationId xmlns:a16="http://schemas.microsoft.com/office/drawing/2014/main" id="{2C73762E-FA53-5173-1F07-AE32F3C803FA}"/>
              </a:ext>
            </a:extLst>
          </p:cNvPr>
          <p:cNvPicPr>
            <a:picLocks noChangeAspect="1"/>
          </p:cNvPicPr>
          <p:nvPr/>
        </p:nvPicPr>
        <p:blipFill>
          <a:blip r:embed="rId3"/>
          <a:stretch>
            <a:fillRect/>
          </a:stretch>
        </p:blipFill>
        <p:spPr>
          <a:xfrm>
            <a:off x="5175604" y="685799"/>
            <a:ext cx="4688265" cy="3429001"/>
          </a:xfrm>
          <a:prstGeom prst="rect">
            <a:avLst/>
          </a:prstGeom>
        </p:spPr>
      </p:pic>
      <p:pic>
        <p:nvPicPr>
          <p:cNvPr id="10" name="Picture 9">
            <a:extLst>
              <a:ext uri="{FF2B5EF4-FFF2-40B4-BE49-F238E27FC236}">
                <a16:creationId xmlns:a16="http://schemas.microsoft.com/office/drawing/2014/main" id="{9251F4BA-8080-EA70-F3B7-01CD71A69DDE}"/>
              </a:ext>
            </a:extLst>
          </p:cNvPr>
          <p:cNvPicPr>
            <a:picLocks noChangeAspect="1"/>
          </p:cNvPicPr>
          <p:nvPr/>
        </p:nvPicPr>
        <p:blipFill>
          <a:blip r:embed="rId4"/>
          <a:stretch>
            <a:fillRect/>
          </a:stretch>
        </p:blipFill>
        <p:spPr>
          <a:xfrm>
            <a:off x="10046368" y="609438"/>
            <a:ext cx="4432341" cy="3391217"/>
          </a:xfrm>
          <a:prstGeom prst="rect">
            <a:avLst/>
          </a:prstGeom>
        </p:spPr>
      </p:pic>
      <p:pic>
        <p:nvPicPr>
          <p:cNvPr id="12" name="Picture 11">
            <a:extLst>
              <a:ext uri="{FF2B5EF4-FFF2-40B4-BE49-F238E27FC236}">
                <a16:creationId xmlns:a16="http://schemas.microsoft.com/office/drawing/2014/main" id="{83536EBC-FB78-204E-F28F-7F9239E9283A}"/>
              </a:ext>
            </a:extLst>
          </p:cNvPr>
          <p:cNvPicPr>
            <a:picLocks noChangeAspect="1"/>
          </p:cNvPicPr>
          <p:nvPr/>
        </p:nvPicPr>
        <p:blipFill>
          <a:blip r:embed="rId5"/>
          <a:stretch>
            <a:fillRect/>
          </a:stretch>
        </p:blipFill>
        <p:spPr>
          <a:xfrm>
            <a:off x="115051" y="4282241"/>
            <a:ext cx="4878054" cy="3742434"/>
          </a:xfrm>
          <a:prstGeom prst="rect">
            <a:avLst/>
          </a:prstGeom>
        </p:spPr>
      </p:pic>
      <p:pic>
        <p:nvPicPr>
          <p:cNvPr id="16" name="Picture 15">
            <a:extLst>
              <a:ext uri="{FF2B5EF4-FFF2-40B4-BE49-F238E27FC236}">
                <a16:creationId xmlns:a16="http://schemas.microsoft.com/office/drawing/2014/main" id="{C9C6CF13-CF12-C3EB-EB10-ED5311624ECA}"/>
              </a:ext>
            </a:extLst>
          </p:cNvPr>
          <p:cNvPicPr>
            <a:picLocks noChangeAspect="1"/>
          </p:cNvPicPr>
          <p:nvPr/>
        </p:nvPicPr>
        <p:blipFill>
          <a:blip r:embed="rId6"/>
          <a:stretch>
            <a:fillRect/>
          </a:stretch>
        </p:blipFill>
        <p:spPr>
          <a:xfrm>
            <a:off x="5149712" y="4282241"/>
            <a:ext cx="4688265" cy="3742435"/>
          </a:xfrm>
          <a:prstGeom prst="rect">
            <a:avLst/>
          </a:prstGeom>
        </p:spPr>
      </p:pic>
      <p:pic>
        <p:nvPicPr>
          <p:cNvPr id="18" name="Picture 17">
            <a:extLst>
              <a:ext uri="{FF2B5EF4-FFF2-40B4-BE49-F238E27FC236}">
                <a16:creationId xmlns:a16="http://schemas.microsoft.com/office/drawing/2014/main" id="{2923D8B6-BB87-76CA-9DEA-057DFBB45F8A}"/>
              </a:ext>
            </a:extLst>
          </p:cNvPr>
          <p:cNvPicPr>
            <a:picLocks noChangeAspect="1"/>
          </p:cNvPicPr>
          <p:nvPr/>
        </p:nvPicPr>
        <p:blipFill>
          <a:blip r:embed="rId7"/>
          <a:stretch>
            <a:fillRect/>
          </a:stretch>
        </p:blipFill>
        <p:spPr>
          <a:xfrm>
            <a:off x="10046367" y="4282241"/>
            <a:ext cx="4432341" cy="3742434"/>
          </a:xfrm>
          <a:prstGeom prst="rect">
            <a:avLst/>
          </a:prstGeom>
        </p:spPr>
      </p:pic>
    </p:spTree>
    <p:extLst>
      <p:ext uri="{BB962C8B-B14F-4D97-AF65-F5344CB8AC3E}">
        <p14:creationId xmlns:p14="http://schemas.microsoft.com/office/powerpoint/2010/main" val="275774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963E3F-735C-D9CA-D570-0F6F54F95CBF}"/>
              </a:ext>
            </a:extLst>
          </p:cNvPr>
          <p:cNvSpPr txBox="1"/>
          <p:nvPr/>
        </p:nvSpPr>
        <p:spPr>
          <a:xfrm>
            <a:off x="215823" y="-684807"/>
            <a:ext cx="14198754" cy="2670924"/>
          </a:xfrm>
          <a:prstGeom prst="rect">
            <a:avLst/>
          </a:prstGeom>
          <a:noFill/>
        </p:spPr>
        <p:txBody>
          <a:bodyPr wrap="square" rtlCol="0">
            <a:spAutoFit/>
          </a:bodyPr>
          <a:lstStyle/>
          <a:p>
            <a:pPr>
              <a:lnSpc>
                <a:spcPts val="5050"/>
              </a:lnSpc>
            </a:pPr>
            <a:endParaRPr lang="en-US" sz="4000" dirty="0">
              <a:solidFill>
                <a:srgbClr val="233E32"/>
              </a:solidFill>
              <a:latin typeface="Alice" pitchFamily="34" charset="0"/>
              <a:ea typeface="Alice" pitchFamily="34" charset="-122"/>
              <a:cs typeface="Alice" pitchFamily="34" charset="-120"/>
            </a:endParaRPr>
          </a:p>
          <a:p>
            <a:pPr>
              <a:lnSpc>
                <a:spcPts val="5050"/>
              </a:lnSpc>
            </a:pPr>
            <a:r>
              <a:rPr lang="en-US" sz="3200" u="sng" dirty="0">
                <a:solidFill>
                  <a:srgbClr val="233E32"/>
                </a:solidFill>
                <a:latin typeface="Alice" pitchFamily="34" charset="0"/>
                <a:ea typeface="Alice" pitchFamily="34" charset="-122"/>
                <a:cs typeface="Alice" pitchFamily="34" charset="-120"/>
              </a:rPr>
              <a:t>Literature Review  </a:t>
            </a:r>
          </a:p>
          <a:p>
            <a:pPr>
              <a:lnSpc>
                <a:spcPts val="5050"/>
              </a:lnSpc>
            </a:pPr>
            <a:r>
              <a:rPr lang="en-US" sz="1600" dirty="0">
                <a:solidFill>
                  <a:srgbClr val="2C2821"/>
                </a:solidFill>
                <a:latin typeface="Lora" pitchFamily="34" charset="0"/>
                <a:ea typeface="Lora" pitchFamily="34" charset="-122"/>
                <a:cs typeface="Lora" pitchFamily="34" charset="-120"/>
              </a:rPr>
              <a:t>Our research into existing solutions revealed a variety of approaches, each with unique strengths and limitations, guiding our system's design.</a:t>
            </a:r>
            <a:endParaRPr lang="en-US" sz="1600" dirty="0"/>
          </a:p>
          <a:p>
            <a:pPr>
              <a:lnSpc>
                <a:spcPts val="5050"/>
              </a:lnSpc>
            </a:pPr>
            <a:endParaRPr lang="en-US" sz="4000" dirty="0">
              <a:solidFill>
                <a:srgbClr val="233E32"/>
              </a:solidFill>
              <a:latin typeface="Alice" pitchFamily="34" charset="0"/>
              <a:ea typeface="Alice" pitchFamily="34" charset="-122"/>
            </a:endParaRPr>
          </a:p>
        </p:txBody>
      </p:sp>
      <p:pic>
        <p:nvPicPr>
          <p:cNvPr id="6" name="Picture 5">
            <a:extLst>
              <a:ext uri="{FF2B5EF4-FFF2-40B4-BE49-F238E27FC236}">
                <a16:creationId xmlns:a16="http://schemas.microsoft.com/office/drawing/2014/main" id="{5AEDCF3E-DE57-6312-E0CA-C7184926D7BC}"/>
              </a:ext>
            </a:extLst>
          </p:cNvPr>
          <p:cNvPicPr>
            <a:picLocks noChangeAspect="1"/>
          </p:cNvPicPr>
          <p:nvPr/>
        </p:nvPicPr>
        <p:blipFill>
          <a:blip r:embed="rId2"/>
          <a:stretch>
            <a:fillRect/>
          </a:stretch>
        </p:blipFill>
        <p:spPr>
          <a:xfrm>
            <a:off x="12276082" y="7369911"/>
            <a:ext cx="2354317" cy="859689"/>
          </a:xfrm>
          <a:prstGeom prst="rect">
            <a:avLst/>
          </a:prstGeom>
        </p:spPr>
      </p:pic>
      <p:graphicFrame>
        <p:nvGraphicFramePr>
          <p:cNvPr id="2" name="Table 1">
            <a:extLst>
              <a:ext uri="{FF2B5EF4-FFF2-40B4-BE49-F238E27FC236}">
                <a16:creationId xmlns:a16="http://schemas.microsoft.com/office/drawing/2014/main" id="{9857FB36-A9DB-3823-EDFC-1130FD42D47E}"/>
              </a:ext>
            </a:extLst>
          </p:cNvPr>
          <p:cNvGraphicFramePr>
            <a:graphicFrameLocks noGrp="1"/>
          </p:cNvGraphicFramePr>
          <p:nvPr>
            <p:extLst>
              <p:ext uri="{D42A27DB-BD31-4B8C-83A1-F6EECF244321}">
                <p14:modId xmlns:p14="http://schemas.microsoft.com/office/powerpoint/2010/main" val="2710178753"/>
              </p:ext>
            </p:extLst>
          </p:nvPr>
        </p:nvGraphicFramePr>
        <p:xfrm>
          <a:off x="372756" y="1340324"/>
          <a:ext cx="13222016" cy="3291840"/>
        </p:xfrm>
        <a:graphic>
          <a:graphicData uri="http://schemas.openxmlformats.org/drawingml/2006/table">
            <a:tbl>
              <a:tblPr firstRow="1" bandRow="1">
                <a:tableStyleId>{5C22544A-7EE6-4342-B048-85BDC9FD1C3A}</a:tableStyleId>
              </a:tblPr>
              <a:tblGrid>
                <a:gridCol w="3305504">
                  <a:extLst>
                    <a:ext uri="{9D8B030D-6E8A-4147-A177-3AD203B41FA5}">
                      <a16:colId xmlns:a16="http://schemas.microsoft.com/office/drawing/2014/main" val="1122504018"/>
                    </a:ext>
                  </a:extLst>
                </a:gridCol>
                <a:gridCol w="3305504">
                  <a:extLst>
                    <a:ext uri="{9D8B030D-6E8A-4147-A177-3AD203B41FA5}">
                      <a16:colId xmlns:a16="http://schemas.microsoft.com/office/drawing/2014/main" val="2946283765"/>
                    </a:ext>
                  </a:extLst>
                </a:gridCol>
                <a:gridCol w="3305504">
                  <a:extLst>
                    <a:ext uri="{9D8B030D-6E8A-4147-A177-3AD203B41FA5}">
                      <a16:colId xmlns:a16="http://schemas.microsoft.com/office/drawing/2014/main" val="3738964104"/>
                    </a:ext>
                  </a:extLst>
                </a:gridCol>
                <a:gridCol w="3305504">
                  <a:extLst>
                    <a:ext uri="{9D8B030D-6E8A-4147-A177-3AD203B41FA5}">
                      <a16:colId xmlns:a16="http://schemas.microsoft.com/office/drawing/2014/main" val="54827458"/>
                    </a:ext>
                  </a:extLst>
                </a:gridCol>
              </a:tblGrid>
              <a:tr h="287554">
                <a:tc>
                  <a:txBody>
                    <a:bodyPr/>
                    <a:lstStyle/>
                    <a:p>
                      <a:pPr algn="ctr"/>
                      <a:r>
                        <a:rPr lang="en-IN" dirty="0"/>
                        <a:t> Title &amp; Year</a:t>
                      </a:r>
                    </a:p>
                  </a:txBody>
                  <a:tcPr/>
                </a:tc>
                <a:tc>
                  <a:txBody>
                    <a:bodyPr/>
                    <a:lstStyle/>
                    <a:p>
                      <a:r>
                        <a:rPr lang="en-IN" dirty="0"/>
                        <a:t>                   Authors</a:t>
                      </a:r>
                    </a:p>
                  </a:txBody>
                  <a:tcPr/>
                </a:tc>
                <a:tc>
                  <a:txBody>
                    <a:bodyPr/>
                    <a:lstStyle/>
                    <a:p>
                      <a:r>
                        <a:rPr lang="en-IN" dirty="0"/>
                        <a:t>                  Limitations</a:t>
                      </a:r>
                    </a:p>
                  </a:txBody>
                  <a:tcPr/>
                </a:tc>
                <a:tc>
                  <a:txBody>
                    <a:bodyPr/>
                    <a:lstStyle/>
                    <a:p>
                      <a:pPr algn="ctr"/>
                      <a:r>
                        <a:rPr lang="en-IN" dirty="0"/>
                        <a:t>Tools &amp; Technologies</a:t>
                      </a:r>
                    </a:p>
                  </a:txBody>
                  <a:tcPr/>
                </a:tc>
                <a:extLst>
                  <a:ext uri="{0D108BD9-81ED-4DB2-BD59-A6C34878D82A}">
                    <a16:rowId xmlns:a16="http://schemas.microsoft.com/office/drawing/2014/main" val="2462283769"/>
                  </a:ext>
                </a:extLst>
              </a:tr>
              <a:tr h="1355259">
                <a:tc>
                  <a:txBody>
                    <a:bodyPr/>
                    <a:lstStyle/>
                    <a:p>
                      <a:r>
                        <a:rPr lang="en-US" dirty="0"/>
                        <a:t>Time Table Management System </a:t>
                      </a:r>
                      <a:r>
                        <a:rPr lang="en-IN" dirty="0"/>
                        <a:t>(SSRN, 2023)</a:t>
                      </a:r>
                    </a:p>
                  </a:txBody>
                  <a:tcPr/>
                </a:tc>
                <a:tc>
                  <a:txBody>
                    <a:bodyPr/>
                    <a:lstStyle/>
                    <a:p>
                      <a:r>
                        <a:rPr lang="en-IN" dirty="0"/>
                        <a:t>Usman Khan, Muhammad Suleman, Saeed Ullah Jan</a:t>
                      </a:r>
                    </a:p>
                  </a:txBody>
                  <a:tcPr/>
                </a:tc>
                <a:tc>
                  <a:txBody>
                    <a:bodyPr/>
                    <a:lstStyle/>
                    <a:p>
                      <a:r>
                        <a:rPr lang="en-IN" dirty="0"/>
                        <a:t>• Depth of evaluation unclear</a:t>
                      </a:r>
                    </a:p>
                    <a:p>
                      <a:r>
                        <a:rPr lang="en-IN" dirty="0"/>
                        <a:t>• Few details on scalability or user testing reported</a:t>
                      </a:r>
                    </a:p>
                  </a:txBody>
                  <a:tcPr/>
                </a:tc>
                <a:tc>
                  <a:txBody>
                    <a:bodyPr/>
                    <a:lstStyle/>
                    <a:p>
                      <a:r>
                        <a:rPr lang="en-IN" dirty="0"/>
                        <a:t>Android Studio (Java/Kotlin)</a:t>
                      </a:r>
                    </a:p>
                    <a:p>
                      <a:r>
                        <a:rPr lang="en-IN" dirty="0"/>
                        <a:t>• SQLite database </a:t>
                      </a:r>
                    </a:p>
                    <a:p>
                      <a:r>
                        <a:rPr lang="en-IN" dirty="0"/>
                        <a:t>• Android OS </a:t>
                      </a:r>
                    </a:p>
                    <a:p>
                      <a:r>
                        <a:rPr lang="en-IN" dirty="0"/>
                        <a:t>• PHP/MySQL mentioned for backend in some versions </a:t>
                      </a:r>
                    </a:p>
                  </a:txBody>
                  <a:tcPr/>
                </a:tc>
                <a:extLst>
                  <a:ext uri="{0D108BD9-81ED-4DB2-BD59-A6C34878D82A}">
                    <a16:rowId xmlns:a16="http://schemas.microsoft.com/office/drawing/2014/main" val="2135130635"/>
                  </a:ext>
                </a:extLst>
              </a:tr>
              <a:tr h="759964">
                <a:tc>
                  <a:txBody>
                    <a:bodyPr/>
                    <a:lstStyle/>
                    <a:p>
                      <a:r>
                        <a:rPr lang="en-US" dirty="0"/>
                        <a:t>Academia Timetable Management System: A Review (IJCRT2212458, 2022)</a:t>
                      </a:r>
                      <a:endParaRPr lang="en-IN" dirty="0"/>
                    </a:p>
                  </a:txBody>
                  <a:tcPr/>
                </a:tc>
                <a:tc>
                  <a:txBody>
                    <a:bodyPr/>
                    <a:lstStyle/>
                    <a:p>
                      <a:r>
                        <a:rPr lang="en-IN" dirty="0"/>
                        <a:t>Aniket Pawar, Aditya Chavan, Akib Mulla, Omkar </a:t>
                      </a:r>
                      <a:r>
                        <a:rPr lang="en-IN" dirty="0" err="1"/>
                        <a:t>Musmade</a:t>
                      </a:r>
                      <a:r>
                        <a:rPr lang="en-IN" dirty="0"/>
                        <a:t>, Suparna S. Naik</a:t>
                      </a:r>
                    </a:p>
                  </a:txBody>
                  <a:tcPr/>
                </a:tc>
                <a:tc>
                  <a:txBody>
                    <a:bodyPr/>
                    <a:lstStyle/>
                    <a:p>
                      <a:r>
                        <a:rPr lang="en-US" dirty="0"/>
                        <a:t>•Attendance is entered manually </a:t>
                      </a:r>
                    </a:p>
                    <a:p>
                      <a:r>
                        <a:rPr lang="en-US" dirty="0"/>
                        <a:t>• Not fully automated in some features </a:t>
                      </a:r>
                    </a:p>
                    <a:p>
                      <a:r>
                        <a:rPr lang="en-US" dirty="0"/>
                        <a:t>• Based on simple Android app, doesn’t use advanced algorithms</a:t>
                      </a:r>
                      <a:endParaRPr lang="en-IN" dirty="0"/>
                    </a:p>
                  </a:txBody>
                  <a:tcPr/>
                </a:tc>
                <a:tc>
                  <a:txBody>
                    <a:bodyPr/>
                    <a:lstStyle/>
                    <a:p>
                      <a:r>
                        <a:rPr lang="en-IN" dirty="0"/>
                        <a:t>•Android (Java) </a:t>
                      </a:r>
                    </a:p>
                    <a:p>
                      <a:r>
                        <a:rPr lang="en-IN" dirty="0"/>
                        <a:t>• XAMPP </a:t>
                      </a:r>
                    </a:p>
                    <a:p>
                      <a:r>
                        <a:rPr lang="en-IN" dirty="0"/>
                        <a:t>• VS Code </a:t>
                      </a:r>
                    </a:p>
                    <a:p>
                      <a:r>
                        <a:rPr lang="en-IN" dirty="0"/>
                        <a:t>• MySQL database </a:t>
                      </a:r>
                    </a:p>
                    <a:p>
                      <a:r>
                        <a:rPr lang="en-IN" dirty="0"/>
                        <a:t>• SQLite</a:t>
                      </a:r>
                    </a:p>
                  </a:txBody>
                  <a:tcPr/>
                </a:tc>
                <a:extLst>
                  <a:ext uri="{0D108BD9-81ED-4DB2-BD59-A6C34878D82A}">
                    <a16:rowId xmlns:a16="http://schemas.microsoft.com/office/drawing/2014/main" val="2931443747"/>
                  </a:ext>
                </a:extLst>
              </a:tr>
            </a:tbl>
          </a:graphicData>
        </a:graphic>
      </p:graphicFrame>
      <p:sp>
        <p:nvSpPr>
          <p:cNvPr id="7" name="TextBox 6">
            <a:extLst>
              <a:ext uri="{FF2B5EF4-FFF2-40B4-BE49-F238E27FC236}">
                <a16:creationId xmlns:a16="http://schemas.microsoft.com/office/drawing/2014/main" id="{0FD60A81-191C-CE00-FD5B-3C3F4BB71C97}"/>
              </a:ext>
            </a:extLst>
          </p:cNvPr>
          <p:cNvSpPr txBox="1"/>
          <p:nvPr/>
        </p:nvSpPr>
        <p:spPr>
          <a:xfrm>
            <a:off x="215823" y="4898858"/>
            <a:ext cx="14041821" cy="3258200"/>
          </a:xfrm>
          <a:prstGeom prst="rect">
            <a:avLst/>
          </a:prstGeom>
          <a:noFill/>
        </p:spPr>
        <p:txBody>
          <a:bodyPr wrap="square" rtlCol="0">
            <a:spAutoFit/>
          </a:bodyPr>
          <a:lstStyle/>
          <a:p>
            <a:pPr>
              <a:lnSpc>
                <a:spcPts val="5050"/>
              </a:lnSpc>
            </a:pPr>
            <a:r>
              <a:rPr lang="en-US" sz="3200" u="sng" dirty="0">
                <a:solidFill>
                  <a:srgbClr val="233E32"/>
                </a:solidFill>
                <a:latin typeface="Alice" pitchFamily="34" charset="0"/>
                <a:ea typeface="Alice" pitchFamily="34" charset="-122"/>
                <a:cs typeface="Alice" pitchFamily="34" charset="-120"/>
              </a:rPr>
              <a:t>Limitations of Existing System</a:t>
            </a:r>
          </a:p>
          <a:p>
            <a:pPr marL="285750" indent="-285750">
              <a:lnSpc>
                <a:spcPts val="5050"/>
              </a:lnSpc>
              <a:buFont typeface="Arial" panose="020B0604020202020204" pitchFamily="34" charset="0"/>
              <a:buChar char="•"/>
            </a:pPr>
            <a:r>
              <a:rPr lang="en-US" dirty="0">
                <a:solidFill>
                  <a:srgbClr val="233E32"/>
                </a:solidFill>
                <a:ea typeface="Calibri Light" panose="020F0302020204030204" pitchFamily="34" charset="0"/>
                <a:cs typeface="Calibri Light" panose="020F0302020204030204" pitchFamily="34" charset="0"/>
              </a:rPr>
              <a:t>Slow for large organizations</a:t>
            </a:r>
          </a:p>
          <a:p>
            <a:pPr marL="285750" indent="-285750">
              <a:lnSpc>
                <a:spcPts val="5050"/>
              </a:lnSpc>
              <a:buFont typeface="Arial" panose="020B0604020202020204" pitchFamily="34" charset="0"/>
              <a:buChar char="•"/>
            </a:pPr>
            <a:r>
              <a:rPr lang="en-US" dirty="0">
                <a:solidFill>
                  <a:srgbClr val="233E32"/>
                </a:solidFill>
                <a:ea typeface="Calibri Light" panose="020F0302020204030204" pitchFamily="34" charset="0"/>
                <a:cs typeface="Calibri Light" panose="020F0302020204030204" pitchFamily="34" charset="0"/>
              </a:rPr>
              <a:t>Cannot handle sudden changes </a:t>
            </a:r>
          </a:p>
          <a:p>
            <a:pPr marL="285750" indent="-285750">
              <a:lnSpc>
                <a:spcPts val="5050"/>
              </a:lnSpc>
              <a:buFont typeface="Arial" panose="020B0604020202020204" pitchFamily="34" charset="0"/>
              <a:buChar char="•"/>
            </a:pPr>
            <a:r>
              <a:rPr lang="en-US" dirty="0">
                <a:solidFill>
                  <a:srgbClr val="233E32"/>
                </a:solidFill>
                <a:ea typeface="Calibri Light" panose="020F0302020204030204" pitchFamily="34" charset="0"/>
                <a:cs typeface="Calibri Light" panose="020F0302020204030204" pitchFamily="34" charset="0"/>
              </a:rPr>
              <a:t>Hard to change rules Not easy to understand results</a:t>
            </a:r>
          </a:p>
          <a:p>
            <a:pPr marL="285750" indent="-285750">
              <a:lnSpc>
                <a:spcPts val="5050"/>
              </a:lnSpc>
              <a:buFont typeface="Arial" panose="020B0604020202020204" pitchFamily="34" charset="0"/>
              <a:buChar char="•"/>
            </a:pPr>
            <a:r>
              <a:rPr lang="en-US" dirty="0">
                <a:solidFill>
                  <a:srgbClr val="233E32"/>
                </a:solidFill>
                <a:ea typeface="Calibri Light" panose="020F0302020204030204" pitchFamily="34" charset="0"/>
                <a:cs typeface="Calibri Light" panose="020F0302020204030204" pitchFamily="34" charset="0"/>
              </a:rPr>
              <a:t> Tested only in theory</a:t>
            </a:r>
          </a:p>
        </p:txBody>
      </p:sp>
    </p:spTree>
    <p:extLst>
      <p:ext uri="{BB962C8B-B14F-4D97-AF65-F5344CB8AC3E}">
        <p14:creationId xmlns:p14="http://schemas.microsoft.com/office/powerpoint/2010/main" val="1506500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96B8B7-1774-46ED-9B9B-9E14EC2D60F4}"/>
              </a:ext>
            </a:extLst>
          </p:cNvPr>
          <p:cNvPicPr>
            <a:picLocks noChangeAspect="1"/>
          </p:cNvPicPr>
          <p:nvPr/>
        </p:nvPicPr>
        <p:blipFill>
          <a:blip r:embed="rId3"/>
          <a:stretch>
            <a:fillRect/>
          </a:stretch>
        </p:blipFill>
        <p:spPr>
          <a:xfrm>
            <a:off x="1" y="1"/>
            <a:ext cx="14630400" cy="9478536"/>
          </a:xfrm>
          <a:prstGeom prst="rect">
            <a:avLst/>
          </a:prstGeom>
        </p:spPr>
      </p:pic>
      <p:sp>
        <p:nvSpPr>
          <p:cNvPr id="2" name="Text 0"/>
          <p:cNvSpPr/>
          <p:nvPr/>
        </p:nvSpPr>
        <p:spPr>
          <a:xfrm>
            <a:off x="4479905" y="158574"/>
            <a:ext cx="5670590" cy="708779"/>
          </a:xfrm>
          <a:prstGeom prst="rect">
            <a:avLst/>
          </a:prstGeom>
          <a:noFill/>
          <a:ln/>
        </p:spPr>
        <p:txBody>
          <a:bodyPr wrap="none" lIns="0" tIns="0" rIns="0" bIns="0" rtlCol="0" anchor="t"/>
          <a:lstStyle/>
          <a:p>
            <a:pPr marL="0" indent="0" algn="l">
              <a:lnSpc>
                <a:spcPts val="5550"/>
              </a:lnSpc>
              <a:buNone/>
            </a:pPr>
            <a:r>
              <a:rPr lang="en-US" sz="4450" u="sng" dirty="0">
                <a:solidFill>
                  <a:srgbClr val="233E32"/>
                </a:solidFill>
                <a:latin typeface="Alice" pitchFamily="34" charset="0"/>
                <a:ea typeface="Alice" pitchFamily="34" charset="-122"/>
                <a:cs typeface="Alice" pitchFamily="34" charset="-120"/>
              </a:rPr>
              <a:t>System Architecture</a:t>
            </a:r>
            <a:endParaRPr lang="en-US" sz="4450" u="sng" dirty="0"/>
          </a:p>
        </p:txBody>
      </p:sp>
      <p:sp>
        <p:nvSpPr>
          <p:cNvPr id="3" name="Text 1"/>
          <p:cNvSpPr/>
          <p:nvPr/>
        </p:nvSpPr>
        <p:spPr>
          <a:xfrm>
            <a:off x="793790" y="428482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Alice" pitchFamily="34" charset="0"/>
                <a:ea typeface="Alice" pitchFamily="34" charset="-122"/>
                <a:cs typeface="Alice" pitchFamily="34" charset="-120"/>
              </a:rPr>
              <a:t> </a:t>
            </a:r>
            <a:endParaRPr lang="en-US" sz="4450" dirty="0"/>
          </a:p>
        </p:txBody>
      </p:sp>
      <p:pic>
        <p:nvPicPr>
          <p:cNvPr id="5" name="Picture 4">
            <a:extLst>
              <a:ext uri="{FF2B5EF4-FFF2-40B4-BE49-F238E27FC236}">
                <a16:creationId xmlns:a16="http://schemas.microsoft.com/office/drawing/2014/main" id="{7712BB90-6B9A-185C-25BE-01F93D606AB4}"/>
              </a:ext>
            </a:extLst>
          </p:cNvPr>
          <p:cNvPicPr>
            <a:picLocks noChangeAspect="1"/>
          </p:cNvPicPr>
          <p:nvPr/>
        </p:nvPicPr>
        <p:blipFill>
          <a:blip r:embed="rId4"/>
          <a:stretch>
            <a:fillRect/>
          </a:stretch>
        </p:blipFill>
        <p:spPr>
          <a:xfrm>
            <a:off x="12460035" y="8466513"/>
            <a:ext cx="2170364" cy="10120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F696DF-B34E-7654-3679-4C7AA06F3140}"/>
              </a:ext>
            </a:extLst>
          </p:cNvPr>
          <p:cNvSpPr txBox="1"/>
          <p:nvPr/>
        </p:nvSpPr>
        <p:spPr>
          <a:xfrm>
            <a:off x="488893" y="487202"/>
            <a:ext cx="10482146" cy="1477328"/>
          </a:xfrm>
          <a:prstGeom prst="rect">
            <a:avLst/>
          </a:prstGeom>
          <a:noFill/>
        </p:spPr>
        <p:txBody>
          <a:bodyPr wrap="square" rtlCol="0">
            <a:spAutoFit/>
          </a:bodyPr>
          <a:lstStyle/>
          <a:p>
            <a:r>
              <a:rPr lang="en-US" sz="3600" u="sng" dirty="0">
                <a:solidFill>
                  <a:srgbClr val="233E32"/>
                </a:solidFill>
                <a:latin typeface="Alice" pitchFamily="34" charset="0"/>
                <a:ea typeface="Alice" pitchFamily="34" charset="-122"/>
                <a:cs typeface="Alice" pitchFamily="34" charset="-120"/>
              </a:rPr>
              <a:t>Implementation Details</a:t>
            </a:r>
          </a:p>
          <a:p>
            <a:endParaRPr lang="en-US" sz="3600" u="sng" dirty="0"/>
          </a:p>
          <a:p>
            <a:endParaRPr lang="en-IN" dirty="0"/>
          </a:p>
        </p:txBody>
      </p:sp>
      <p:sp>
        <p:nvSpPr>
          <p:cNvPr id="5" name="TextBox 4">
            <a:extLst>
              <a:ext uri="{FF2B5EF4-FFF2-40B4-BE49-F238E27FC236}">
                <a16:creationId xmlns:a16="http://schemas.microsoft.com/office/drawing/2014/main" id="{3DAA1FAE-B286-42EB-DC6A-7C362A8E669D}"/>
              </a:ext>
            </a:extLst>
          </p:cNvPr>
          <p:cNvSpPr txBox="1"/>
          <p:nvPr/>
        </p:nvSpPr>
        <p:spPr>
          <a:xfrm>
            <a:off x="263521" y="1225866"/>
            <a:ext cx="13403766" cy="6401753"/>
          </a:xfrm>
          <a:prstGeom prst="rect">
            <a:avLst/>
          </a:prstGeom>
          <a:noFill/>
        </p:spPr>
        <p:txBody>
          <a:bodyPr wrap="square" rtlCol="0">
            <a:spAutoFit/>
          </a:bodyPr>
          <a:lstStyle/>
          <a:p>
            <a:pPr marL="457200" indent="-457200">
              <a:buFont typeface="Arial" panose="020B0604020202020204" pitchFamily="34" charset="0"/>
              <a:buChar char="•"/>
            </a:pPr>
            <a:r>
              <a:rPr lang="en-US" sz="2800" b="1" dirty="0"/>
              <a:t> </a:t>
            </a:r>
            <a:r>
              <a:rPr lang="en-US" sz="2600" b="1" dirty="0"/>
              <a:t>Front-End:</a:t>
            </a:r>
            <a:r>
              <a:rPr lang="en-US" sz="2600" dirty="0"/>
              <a:t> Developed using HTML, CSS, JavaScript, and JSP to create a dynamic and user-friendly interface for Admin, Faculty, and Students.</a:t>
            </a:r>
          </a:p>
          <a:p>
            <a:pPr marL="457200" indent="-457200">
              <a:buFont typeface="Arial" panose="020B0604020202020204" pitchFamily="34" charset="0"/>
              <a:buChar char="•"/>
            </a:pPr>
            <a:r>
              <a:rPr lang="en-US" sz="2600" b="1" dirty="0"/>
              <a:t>Back-End:</a:t>
            </a:r>
            <a:r>
              <a:rPr lang="en-US" sz="2600" dirty="0"/>
              <a:t> Implemented using Java (Servlets and JSP) to manage application logic, process user requests, and handle timetable generation efficiently.</a:t>
            </a:r>
          </a:p>
          <a:p>
            <a:pPr marL="457200" indent="-457200">
              <a:buFont typeface="Arial" panose="020B0604020202020204" pitchFamily="34" charset="0"/>
              <a:buChar char="•"/>
            </a:pPr>
            <a:r>
              <a:rPr lang="en-US" sz="2600" b="1" dirty="0"/>
              <a:t>Database:</a:t>
            </a:r>
            <a:r>
              <a:rPr lang="en-US" sz="2600" dirty="0"/>
              <a:t> MySQL is used to store and manage data such as faculty details, </a:t>
            </a:r>
            <a:r>
              <a:rPr lang="en-US" sz="2600" dirty="0" err="1"/>
              <a:t>subjects,divisions,users,rooms,time</a:t>
            </a:r>
            <a:r>
              <a:rPr lang="en-US" sz="2600" dirty="0"/>
              <a:t> </a:t>
            </a:r>
            <a:r>
              <a:rPr lang="en-US" sz="2600" dirty="0" err="1"/>
              <a:t>slots,subjects</a:t>
            </a:r>
            <a:r>
              <a:rPr lang="en-US" sz="2600" dirty="0"/>
              <a:t>, timetable </a:t>
            </a:r>
            <a:r>
              <a:rPr lang="en-US" sz="2600" dirty="0" err="1"/>
              <a:t>entries,fixed</a:t>
            </a:r>
            <a:r>
              <a:rPr lang="en-US" sz="2600" dirty="0"/>
              <a:t> </a:t>
            </a:r>
            <a:r>
              <a:rPr lang="en-US" sz="2600" dirty="0" err="1"/>
              <a:t>activities,duties</a:t>
            </a:r>
            <a:r>
              <a:rPr lang="en-US" sz="2600" dirty="0"/>
              <a:t> and leave records in structured manner.</a:t>
            </a:r>
          </a:p>
          <a:p>
            <a:pPr marL="457200" indent="-457200">
              <a:buFont typeface="Arial" panose="020B0604020202020204" pitchFamily="34" charset="0"/>
              <a:buChar char="•"/>
            </a:pPr>
            <a:r>
              <a:rPr lang="en-US" sz="2600" b="1" dirty="0"/>
              <a:t>Database Connectivity:</a:t>
            </a:r>
            <a:r>
              <a:rPr lang="en-US" sz="2600" dirty="0"/>
              <a:t> JDBC is used to establish a secure connection between the Java application and the MySQL database for data operations.</a:t>
            </a:r>
          </a:p>
          <a:p>
            <a:pPr marL="457200" indent="-457200">
              <a:buFont typeface="Arial" panose="020B0604020202020204" pitchFamily="34" charset="0"/>
              <a:buChar char="•"/>
            </a:pPr>
            <a:r>
              <a:rPr lang="en-US" sz="2600" b="1" dirty="0"/>
              <a:t>Web Server:</a:t>
            </a:r>
            <a:r>
              <a:rPr lang="en-US" sz="2600" dirty="0"/>
              <a:t> Apache Tomcat 9 is used to deploy and run the web application, handling client requests and server responses.</a:t>
            </a:r>
          </a:p>
          <a:p>
            <a:pPr marL="457200" indent="-457200">
              <a:buFont typeface="Arial" panose="020B0604020202020204" pitchFamily="34" charset="0"/>
              <a:buChar char="•"/>
            </a:pPr>
            <a:r>
              <a:rPr lang="en-US" sz="2600" b="1" dirty="0"/>
              <a:t>Build Tool:</a:t>
            </a:r>
            <a:r>
              <a:rPr lang="en-US" sz="2600" dirty="0"/>
              <a:t> Maven is used for project build automation and dependency management, ensuring smooth development and deployment.</a:t>
            </a:r>
          </a:p>
          <a:p>
            <a:pPr marL="457200" indent="-457200">
              <a:buFont typeface="Arial" panose="020B0604020202020204" pitchFamily="34" charset="0"/>
              <a:buChar char="•"/>
            </a:pPr>
            <a:r>
              <a:rPr lang="en-US" sz="2600" b="1" dirty="0"/>
              <a:t>IDE:</a:t>
            </a:r>
            <a:r>
              <a:rPr lang="en-US" sz="2600" dirty="0"/>
              <a:t> IntelliJ IDEA is used as the development environment for coding, debugging, and managing the entire project efficiently.</a:t>
            </a:r>
          </a:p>
          <a:p>
            <a:pPr marL="457200" indent="-457200">
              <a:buFont typeface="Arial" panose="020B0604020202020204" pitchFamily="34" charset="0"/>
              <a:buChar char="•"/>
            </a:pPr>
            <a:endParaRPr lang="en-IN" dirty="0"/>
          </a:p>
        </p:txBody>
      </p:sp>
      <p:sp>
        <p:nvSpPr>
          <p:cNvPr id="9" name="TextBox 8">
            <a:extLst>
              <a:ext uri="{FF2B5EF4-FFF2-40B4-BE49-F238E27FC236}">
                <a16:creationId xmlns:a16="http://schemas.microsoft.com/office/drawing/2014/main" id="{40112B12-3BD8-F97A-2134-00806AE3C1C7}"/>
              </a:ext>
            </a:extLst>
          </p:cNvPr>
          <p:cNvSpPr txBox="1"/>
          <p:nvPr/>
        </p:nvSpPr>
        <p:spPr>
          <a:xfrm>
            <a:off x="263521" y="3780166"/>
            <a:ext cx="13403766" cy="523220"/>
          </a:xfrm>
          <a:prstGeom prst="rect">
            <a:avLst/>
          </a:prstGeom>
          <a:noFill/>
        </p:spPr>
        <p:txBody>
          <a:bodyPr wrap="square" rtlCol="0">
            <a:spAutoFit/>
          </a:bodyPr>
          <a:lstStyle/>
          <a:p>
            <a:endParaRPr lang="en-IN" sz="2800" dirty="0"/>
          </a:p>
        </p:txBody>
      </p:sp>
      <p:pic>
        <p:nvPicPr>
          <p:cNvPr id="7" name="Picture 6">
            <a:extLst>
              <a:ext uri="{FF2B5EF4-FFF2-40B4-BE49-F238E27FC236}">
                <a16:creationId xmlns:a16="http://schemas.microsoft.com/office/drawing/2014/main" id="{C271E6EA-5390-486E-7641-D2003741093A}"/>
              </a:ext>
            </a:extLst>
          </p:cNvPr>
          <p:cNvPicPr>
            <a:picLocks noChangeAspect="1"/>
          </p:cNvPicPr>
          <p:nvPr/>
        </p:nvPicPr>
        <p:blipFill>
          <a:blip r:embed="rId2"/>
          <a:stretch>
            <a:fillRect/>
          </a:stretch>
        </p:blipFill>
        <p:spPr>
          <a:xfrm>
            <a:off x="12350298" y="7321217"/>
            <a:ext cx="2280102" cy="908383"/>
          </a:xfrm>
          <a:prstGeom prst="rect">
            <a:avLst/>
          </a:prstGeom>
        </p:spPr>
      </p:pic>
    </p:spTree>
    <p:extLst>
      <p:ext uri="{BB962C8B-B14F-4D97-AF65-F5344CB8AC3E}">
        <p14:creationId xmlns:p14="http://schemas.microsoft.com/office/powerpoint/2010/main" val="778335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4AB771-BEA2-11E9-ED3E-C09AB0C26C1A}"/>
              </a:ext>
            </a:extLst>
          </p:cNvPr>
          <p:cNvSpPr txBox="1"/>
          <p:nvPr/>
        </p:nvSpPr>
        <p:spPr>
          <a:xfrm>
            <a:off x="854242" y="613610"/>
            <a:ext cx="12163926" cy="5786199"/>
          </a:xfrm>
          <a:prstGeom prst="rect">
            <a:avLst/>
          </a:prstGeom>
          <a:noFill/>
        </p:spPr>
        <p:txBody>
          <a:bodyPr wrap="square" rtlCol="0">
            <a:spAutoFit/>
          </a:bodyPr>
          <a:lstStyle/>
          <a:p>
            <a:r>
              <a:rPr lang="en-US" sz="3600" u="sng" dirty="0">
                <a:solidFill>
                  <a:srgbClr val="233E32"/>
                </a:solidFill>
                <a:latin typeface="Alice" pitchFamily="34" charset="0"/>
                <a:ea typeface="Alice" pitchFamily="34" charset="-122"/>
                <a:cs typeface="Alice" pitchFamily="34" charset="-120"/>
              </a:rPr>
              <a:t>Modules Implemented</a:t>
            </a:r>
          </a:p>
          <a:p>
            <a:endParaRPr lang="en-IN" sz="3600" u="sng" dirty="0"/>
          </a:p>
          <a:p>
            <a:pPr marL="457200" indent="-457200">
              <a:buFont typeface="Arial" panose="020B0604020202020204" pitchFamily="34" charset="0"/>
              <a:buChar char="•"/>
            </a:pPr>
            <a:r>
              <a:rPr lang="en-IN" sz="2800" b="1" dirty="0"/>
              <a:t>Admin Module : </a:t>
            </a:r>
            <a:r>
              <a:rPr lang="en-IN" sz="2800" dirty="0"/>
              <a:t>Add and manage faculty </a:t>
            </a:r>
            <a:r>
              <a:rPr lang="en-IN" sz="2800" dirty="0" err="1"/>
              <a:t>details,subjects,classrooms</a:t>
            </a:r>
            <a:r>
              <a:rPr lang="en-IN" sz="2800" dirty="0"/>
              <a:t> and generate timetables.</a:t>
            </a:r>
          </a:p>
          <a:p>
            <a:pPr marL="457200" indent="-457200">
              <a:buFont typeface="Arial" panose="020B0604020202020204" pitchFamily="34" charset="0"/>
              <a:buChar char="•"/>
            </a:pPr>
            <a:r>
              <a:rPr lang="en-IN" sz="2800" b="1" dirty="0"/>
              <a:t>Timetable management Module : </a:t>
            </a:r>
            <a:r>
              <a:rPr lang="en-US" sz="2800" dirty="0"/>
              <a:t>Generates timetable entries and allow admin to add timetable entries while avoiding clashes</a:t>
            </a:r>
            <a:r>
              <a:rPr lang="en-IN" sz="2800" dirty="0"/>
              <a:t>.</a:t>
            </a:r>
          </a:p>
          <a:p>
            <a:pPr marL="457200" indent="-457200">
              <a:buFont typeface="Arial" panose="020B0604020202020204" pitchFamily="34" charset="0"/>
              <a:buChar char="•"/>
            </a:pPr>
            <a:r>
              <a:rPr lang="en-IN" sz="2800" b="1" dirty="0"/>
              <a:t>Duty management Module : </a:t>
            </a:r>
            <a:r>
              <a:rPr lang="en-US" sz="2800" dirty="0"/>
              <a:t>Assigns duties such as paper </a:t>
            </a:r>
            <a:r>
              <a:rPr lang="en-US" sz="2800" dirty="0" err="1"/>
              <a:t>correction,exam</a:t>
            </a:r>
            <a:r>
              <a:rPr lang="en-US" sz="2800" dirty="0"/>
              <a:t> </a:t>
            </a:r>
            <a:r>
              <a:rPr lang="en-US" sz="2800" dirty="0" err="1"/>
              <a:t>duty,events</a:t>
            </a:r>
            <a:r>
              <a:rPr lang="en-US" sz="2800" dirty="0"/>
              <a:t> or other assigned work to faculty.</a:t>
            </a:r>
          </a:p>
          <a:p>
            <a:pPr marL="457200" indent="-457200">
              <a:buFont typeface="Arial" panose="020B0604020202020204" pitchFamily="34" charset="0"/>
              <a:buChar char="•"/>
            </a:pPr>
            <a:r>
              <a:rPr lang="en-IN" sz="2800" b="1" dirty="0"/>
              <a:t>Faculty Module : </a:t>
            </a:r>
            <a:r>
              <a:rPr lang="en-US" sz="2800" dirty="0"/>
              <a:t>Allows faculty members to view their timetable and assigned duties</a:t>
            </a:r>
            <a:r>
              <a:rPr lang="en-US" sz="2800" b="1" dirty="0"/>
              <a:t>.</a:t>
            </a:r>
          </a:p>
          <a:p>
            <a:pPr marL="457200" indent="-457200">
              <a:buFont typeface="Arial" panose="020B0604020202020204" pitchFamily="34" charset="0"/>
              <a:buChar char="•"/>
            </a:pPr>
            <a:r>
              <a:rPr lang="en-IN" sz="2800" b="1" dirty="0"/>
              <a:t>Output : </a:t>
            </a:r>
            <a:r>
              <a:rPr lang="en-US" sz="2800" dirty="0"/>
              <a:t>Displays organized faculty timetables and duty schedules in a clear structured format</a:t>
            </a:r>
            <a:r>
              <a:rPr lang="en-US" sz="2800" b="1" dirty="0"/>
              <a:t>.</a:t>
            </a:r>
            <a:endParaRPr lang="en-IN" sz="2800" dirty="0"/>
          </a:p>
          <a:p>
            <a:endParaRPr lang="en-IN" dirty="0"/>
          </a:p>
        </p:txBody>
      </p:sp>
      <p:pic>
        <p:nvPicPr>
          <p:cNvPr id="9" name="Picture 8">
            <a:extLst>
              <a:ext uri="{FF2B5EF4-FFF2-40B4-BE49-F238E27FC236}">
                <a16:creationId xmlns:a16="http://schemas.microsoft.com/office/drawing/2014/main" id="{F015AAE6-30F6-542D-342C-642B5880324D}"/>
              </a:ext>
            </a:extLst>
          </p:cNvPr>
          <p:cNvPicPr>
            <a:picLocks noChangeAspect="1"/>
          </p:cNvPicPr>
          <p:nvPr/>
        </p:nvPicPr>
        <p:blipFill>
          <a:blip r:embed="rId2"/>
          <a:stretch>
            <a:fillRect/>
          </a:stretch>
        </p:blipFill>
        <p:spPr>
          <a:xfrm>
            <a:off x="12460036" y="7217576"/>
            <a:ext cx="2170364" cy="1012024"/>
          </a:xfrm>
          <a:prstGeom prst="rect">
            <a:avLst/>
          </a:prstGeom>
        </p:spPr>
      </p:pic>
    </p:spTree>
    <p:extLst>
      <p:ext uri="{BB962C8B-B14F-4D97-AF65-F5344CB8AC3E}">
        <p14:creationId xmlns:p14="http://schemas.microsoft.com/office/powerpoint/2010/main" val="3085621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4DEED852-B4C4-CB61-9C61-9266439210AF}"/>
              </a:ext>
            </a:extLst>
          </p:cNvPr>
          <p:cNvSpPr>
            <a:spLocks noChangeArrowheads="1"/>
          </p:cNvSpPr>
          <p:nvPr/>
        </p:nvSpPr>
        <p:spPr bwMode="auto">
          <a:xfrm>
            <a:off x="457200" y="-4319294"/>
            <a:ext cx="12280221" cy="867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ea typeface="Alice"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800" dirty="0">
              <a:ea typeface="Alice"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ea typeface="Alice" panose="020B0604020202020204" charset="0"/>
              </a:rPr>
              <a:t>Successfully automated faculty and departmental duty management processes.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ea typeface="Alice" panose="020B0604020202020204" charset="0"/>
              </a:rPr>
              <a:t>Reduced paperwork, manual effort, and administrative workload.</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ea typeface="Alice" panose="020B0604020202020204" charset="0"/>
              </a:rPr>
              <a:t>Improved accuracy in timetable scheduling and duty allocation.</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dirty="0">
                <a:ea typeface="Alice" panose="020B0604020202020204" charset="0"/>
              </a:rPr>
              <a:t>PDF timetable export</a:t>
            </a:r>
            <a:r>
              <a:rPr kumimoji="0" lang="en-US" altLang="en-US" sz="2800" b="0" i="0" u="none" strike="noStrike" cap="none" normalizeH="0" baseline="0" dirty="0">
                <a:ln>
                  <a:noFill/>
                </a:ln>
                <a:solidFill>
                  <a:schemeClr val="tx1"/>
                </a:solidFill>
                <a:effectLst/>
                <a:ea typeface="Alice" panose="020B0604020202020204" charset="0"/>
              </a:rPr>
              <a:t> and easy access to </a:t>
            </a:r>
            <a:r>
              <a:rPr kumimoji="0" lang="en-US" altLang="en-US" sz="2800" b="0" i="0" u="none" strike="noStrike" cap="none" normalizeH="0" baseline="0" dirty="0" err="1">
                <a:ln>
                  <a:noFill/>
                </a:ln>
                <a:solidFill>
                  <a:schemeClr val="tx1"/>
                </a:solidFill>
                <a:effectLst/>
                <a:ea typeface="Alice" panose="020B0604020202020204" charset="0"/>
              </a:rPr>
              <a:t>timetable,leave</a:t>
            </a:r>
            <a:r>
              <a:rPr kumimoji="0" lang="en-US" altLang="en-US" sz="2800" b="0" i="0" u="none" strike="noStrike" cap="none" normalizeH="0" baseline="0" dirty="0">
                <a:ln>
                  <a:noFill/>
                </a:ln>
                <a:solidFill>
                  <a:schemeClr val="tx1"/>
                </a:solidFill>
                <a:effectLst/>
                <a:ea typeface="Alice" panose="020B0604020202020204" charset="0"/>
              </a:rPr>
              <a:t> and faculty records.</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ea typeface="Alice" panose="020B0604020202020204" charset="0"/>
              </a:rPr>
              <a:t>Centralized and secure database management for faculty information.</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ea typeface="Alice" panose="020B0604020202020204" charset="0"/>
              </a:rPr>
              <a:t>Enhanced departmental efficiency, transparency, and resource utilization.</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ea typeface="Alice" panose="020B0604020202020204" charset="0"/>
            </a:endParaRPr>
          </a:p>
        </p:txBody>
      </p:sp>
      <p:sp>
        <p:nvSpPr>
          <p:cNvPr id="4" name="TextBox 3">
            <a:extLst>
              <a:ext uri="{FF2B5EF4-FFF2-40B4-BE49-F238E27FC236}">
                <a16:creationId xmlns:a16="http://schemas.microsoft.com/office/drawing/2014/main" id="{D806E50D-715D-A7D1-A6AE-BB62D3B4665A}"/>
              </a:ext>
            </a:extLst>
          </p:cNvPr>
          <p:cNvSpPr txBox="1"/>
          <p:nvPr/>
        </p:nvSpPr>
        <p:spPr>
          <a:xfrm>
            <a:off x="330867" y="342900"/>
            <a:ext cx="5504448" cy="1138773"/>
          </a:xfrm>
          <a:prstGeom prst="rect">
            <a:avLst/>
          </a:prstGeom>
          <a:noFill/>
        </p:spPr>
        <p:txBody>
          <a:bodyPr wrap="square" rtlCol="0">
            <a:spAutoFit/>
          </a:bodyPr>
          <a:lstStyle/>
          <a:p>
            <a:r>
              <a:rPr lang="en-US" sz="3600" u="sng" dirty="0">
                <a:latin typeface="Alice" panose="020B0604020202020204" charset="0"/>
                <a:ea typeface="Alice" panose="020B0604020202020204" charset="0"/>
              </a:rPr>
              <a:t>Result and Analysis</a:t>
            </a:r>
          </a:p>
          <a:p>
            <a:endParaRPr lang="en-IN" sz="3200" u="sng" dirty="0">
              <a:latin typeface="Alice" panose="020B0604020202020204" charset="0"/>
              <a:ea typeface="Alice" panose="020B0604020202020204" charset="0"/>
            </a:endParaRPr>
          </a:p>
        </p:txBody>
      </p:sp>
      <p:pic>
        <p:nvPicPr>
          <p:cNvPr id="7" name="Picture 6">
            <a:extLst>
              <a:ext uri="{FF2B5EF4-FFF2-40B4-BE49-F238E27FC236}">
                <a16:creationId xmlns:a16="http://schemas.microsoft.com/office/drawing/2014/main" id="{D4D29954-9941-2719-D1D6-3CD8204AEB84}"/>
              </a:ext>
            </a:extLst>
          </p:cNvPr>
          <p:cNvPicPr>
            <a:picLocks noChangeAspect="1"/>
          </p:cNvPicPr>
          <p:nvPr/>
        </p:nvPicPr>
        <p:blipFill>
          <a:blip r:embed="rId2"/>
          <a:stretch>
            <a:fillRect/>
          </a:stretch>
        </p:blipFill>
        <p:spPr>
          <a:xfrm>
            <a:off x="12460036" y="7217576"/>
            <a:ext cx="2170364" cy="1012024"/>
          </a:xfrm>
          <a:prstGeom prst="rect">
            <a:avLst/>
          </a:prstGeom>
        </p:spPr>
      </p:pic>
    </p:spTree>
    <p:extLst>
      <p:ext uri="{BB962C8B-B14F-4D97-AF65-F5344CB8AC3E}">
        <p14:creationId xmlns:p14="http://schemas.microsoft.com/office/powerpoint/2010/main" val="79710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153448-5734-26FF-C354-EBEAA389D444}"/>
              </a:ext>
            </a:extLst>
          </p:cNvPr>
          <p:cNvSpPr txBox="1"/>
          <p:nvPr/>
        </p:nvSpPr>
        <p:spPr>
          <a:xfrm>
            <a:off x="372979" y="1714143"/>
            <a:ext cx="14004758"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system can be enhanced by implementing AI or optimization-based timetable generation to reduce scheduling conflicts and improve workload distribution among faculty members.</a:t>
            </a:r>
          </a:p>
          <a:p>
            <a:pPr marL="342900" indent="-342900">
              <a:buFont typeface="Arial" panose="020B0604020202020204" pitchFamily="34" charset="0"/>
              <a:buChar char="•"/>
            </a:pPr>
            <a:r>
              <a:rPr lang="en-US" sz="2400" dirty="0"/>
              <a:t>Mobile application support can be added to allow faculty and administrators to access schedules, duties, notifications, and reports anytime and anywhere.</a:t>
            </a:r>
          </a:p>
          <a:p>
            <a:pPr marL="342900" indent="-342900">
              <a:buFont typeface="Arial" panose="020B0604020202020204" pitchFamily="34" charset="0"/>
              <a:buChar char="•"/>
            </a:pPr>
            <a:r>
              <a:rPr lang="en-US" sz="2400" dirty="0"/>
              <a:t>Cloud database integration can improve data storage, backup, scalability, and remote accessibility for multiple departments and campuses.</a:t>
            </a:r>
          </a:p>
          <a:p>
            <a:pPr marL="342900" indent="-342900">
              <a:buFont typeface="Arial" panose="020B0604020202020204" pitchFamily="34" charset="0"/>
              <a:buChar char="•"/>
            </a:pPr>
            <a:r>
              <a:rPr lang="en-US" sz="2400" dirty="0"/>
              <a:t>SMS and Email notification features can be implemented to provide instant updates regarding timetable changes, meetings, duties, and departmental announcements.</a:t>
            </a:r>
          </a:p>
          <a:p>
            <a:pPr marL="342900" indent="-342900">
              <a:buFont typeface="Arial" panose="020B0604020202020204" pitchFamily="34" charset="0"/>
              <a:buChar char="•"/>
            </a:pPr>
            <a:r>
              <a:rPr lang="en-US" sz="2400" dirty="0"/>
              <a:t>Advanced analytics and dashboard modules can be added to monitor faculty performance, workload analysis, and departmental efficiency through graphical reports and statistics.</a:t>
            </a:r>
          </a:p>
        </p:txBody>
      </p:sp>
      <p:sp>
        <p:nvSpPr>
          <p:cNvPr id="4" name="TextBox 3">
            <a:extLst>
              <a:ext uri="{FF2B5EF4-FFF2-40B4-BE49-F238E27FC236}">
                <a16:creationId xmlns:a16="http://schemas.microsoft.com/office/drawing/2014/main" id="{7E42F787-DF37-0982-FA76-D9C8B41EC1E0}"/>
              </a:ext>
            </a:extLst>
          </p:cNvPr>
          <p:cNvSpPr txBox="1"/>
          <p:nvPr/>
        </p:nvSpPr>
        <p:spPr>
          <a:xfrm>
            <a:off x="372979" y="372980"/>
            <a:ext cx="2824812" cy="646331"/>
          </a:xfrm>
          <a:prstGeom prst="rect">
            <a:avLst/>
          </a:prstGeom>
          <a:noFill/>
        </p:spPr>
        <p:txBody>
          <a:bodyPr wrap="none" rtlCol="0">
            <a:spAutoFit/>
          </a:bodyPr>
          <a:lstStyle/>
          <a:p>
            <a:r>
              <a:rPr lang="en-US" sz="3600" u="sng" dirty="0">
                <a:latin typeface="Alice" panose="020B0604020202020204" charset="0"/>
                <a:ea typeface="Alice" panose="020B0604020202020204" charset="0"/>
              </a:rPr>
              <a:t>Future Work</a:t>
            </a:r>
            <a:endParaRPr lang="en-IN" sz="3600" u="sng" dirty="0">
              <a:latin typeface="Alice" panose="020B0604020202020204" charset="0"/>
              <a:ea typeface="Alice" panose="020B0604020202020204" charset="0"/>
            </a:endParaRPr>
          </a:p>
        </p:txBody>
      </p:sp>
      <p:pic>
        <p:nvPicPr>
          <p:cNvPr id="6" name="Picture 5">
            <a:extLst>
              <a:ext uri="{FF2B5EF4-FFF2-40B4-BE49-F238E27FC236}">
                <a16:creationId xmlns:a16="http://schemas.microsoft.com/office/drawing/2014/main" id="{5CB892A7-1A86-2A35-62DD-25CE422C6834}"/>
              </a:ext>
            </a:extLst>
          </p:cNvPr>
          <p:cNvPicPr>
            <a:picLocks noChangeAspect="1"/>
          </p:cNvPicPr>
          <p:nvPr/>
        </p:nvPicPr>
        <p:blipFill>
          <a:blip r:embed="rId2"/>
          <a:stretch>
            <a:fillRect/>
          </a:stretch>
        </p:blipFill>
        <p:spPr>
          <a:xfrm>
            <a:off x="12460036" y="7210289"/>
            <a:ext cx="2170364" cy="1012024"/>
          </a:xfrm>
          <a:prstGeom prst="rect">
            <a:avLst/>
          </a:prstGeom>
        </p:spPr>
      </p:pic>
    </p:spTree>
    <p:extLst>
      <p:ext uri="{BB962C8B-B14F-4D97-AF65-F5344CB8AC3E}">
        <p14:creationId xmlns:p14="http://schemas.microsoft.com/office/powerpoint/2010/main" val="867084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709866C-57EA-D0F1-FA89-07A150767B9C}"/>
              </a:ext>
            </a:extLst>
          </p:cNvPr>
          <p:cNvSpPr txBox="1"/>
          <p:nvPr/>
        </p:nvSpPr>
        <p:spPr>
          <a:xfrm>
            <a:off x="788949" y="798195"/>
            <a:ext cx="2765501" cy="984885"/>
          </a:xfrm>
          <a:prstGeom prst="rect">
            <a:avLst/>
          </a:prstGeom>
          <a:noFill/>
        </p:spPr>
        <p:txBody>
          <a:bodyPr wrap="none" rtlCol="0">
            <a:spAutoFit/>
          </a:bodyPr>
          <a:lstStyle/>
          <a:p>
            <a:r>
              <a:rPr lang="en-US" sz="4000" u="sng" dirty="0">
                <a:solidFill>
                  <a:srgbClr val="233E32"/>
                </a:solidFill>
                <a:latin typeface="Alice" pitchFamily="34" charset="0"/>
                <a:ea typeface="Alice" pitchFamily="34" charset="-122"/>
              </a:rPr>
              <a:t>Conclusion</a:t>
            </a:r>
            <a:endParaRPr lang="en-US" sz="4000" u="sng" dirty="0"/>
          </a:p>
          <a:p>
            <a:endParaRPr lang="en-IN" dirty="0"/>
          </a:p>
        </p:txBody>
      </p:sp>
      <p:sp>
        <p:nvSpPr>
          <p:cNvPr id="7" name="TextBox 6">
            <a:extLst>
              <a:ext uri="{FF2B5EF4-FFF2-40B4-BE49-F238E27FC236}">
                <a16:creationId xmlns:a16="http://schemas.microsoft.com/office/drawing/2014/main" id="{C8F6CF8D-CBCC-73C2-4B6A-ADEFC9DD3117}"/>
              </a:ext>
            </a:extLst>
          </p:cNvPr>
          <p:cNvSpPr txBox="1"/>
          <p:nvPr/>
        </p:nvSpPr>
        <p:spPr>
          <a:xfrm>
            <a:off x="1125554" y="2298918"/>
            <a:ext cx="11670030" cy="2246769"/>
          </a:xfrm>
          <a:prstGeom prst="rect">
            <a:avLst/>
          </a:prstGeom>
          <a:noFill/>
        </p:spPr>
        <p:txBody>
          <a:bodyPr wrap="square" rtlCol="0">
            <a:spAutoFit/>
          </a:bodyPr>
          <a:lstStyle/>
          <a:p>
            <a:r>
              <a:rPr lang="en-US" sz="2800" dirty="0"/>
              <a:t>The Department Timetable and Duty Management System provides an efficient, reliable, and automated solution to manage academic schedules and duties. By reducing manual workload and improving accuracy, the system enhances better academic planning and easier access for admin, faculty, and students.</a:t>
            </a:r>
            <a:endParaRPr lang="en-IN" sz="2800" dirty="0"/>
          </a:p>
        </p:txBody>
      </p:sp>
      <p:pic>
        <p:nvPicPr>
          <p:cNvPr id="3" name="Picture 2">
            <a:extLst>
              <a:ext uri="{FF2B5EF4-FFF2-40B4-BE49-F238E27FC236}">
                <a16:creationId xmlns:a16="http://schemas.microsoft.com/office/drawing/2014/main" id="{644CD235-2CBF-EDD5-5EBE-8D667D118639}"/>
              </a:ext>
            </a:extLst>
          </p:cNvPr>
          <p:cNvPicPr>
            <a:picLocks noChangeAspect="1"/>
          </p:cNvPicPr>
          <p:nvPr/>
        </p:nvPicPr>
        <p:blipFill>
          <a:blip r:embed="rId2"/>
          <a:stretch>
            <a:fillRect/>
          </a:stretch>
        </p:blipFill>
        <p:spPr>
          <a:xfrm>
            <a:off x="12460036" y="7217576"/>
            <a:ext cx="2170364" cy="1012024"/>
          </a:xfrm>
          <a:prstGeom prst="rect">
            <a:avLst/>
          </a:prstGeom>
        </p:spPr>
      </p:pic>
    </p:spTree>
    <p:extLst>
      <p:ext uri="{BB962C8B-B14F-4D97-AF65-F5344CB8AC3E}">
        <p14:creationId xmlns:p14="http://schemas.microsoft.com/office/powerpoint/2010/main" val="2956297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18A1C9-2BA9-5E5A-6066-380CF8FAB055}"/>
              </a:ext>
            </a:extLst>
          </p:cNvPr>
          <p:cNvSpPr txBox="1"/>
          <p:nvPr/>
        </p:nvSpPr>
        <p:spPr>
          <a:xfrm>
            <a:off x="3880624" y="3102260"/>
            <a:ext cx="8709103" cy="1846659"/>
          </a:xfrm>
          <a:prstGeom prst="rect">
            <a:avLst/>
          </a:prstGeom>
          <a:noFill/>
        </p:spPr>
        <p:txBody>
          <a:bodyPr wrap="square" rtlCol="0">
            <a:spAutoFit/>
          </a:bodyPr>
          <a:lstStyle/>
          <a:p>
            <a:r>
              <a:rPr lang="en-US" sz="9600" dirty="0">
                <a:solidFill>
                  <a:srgbClr val="233E32"/>
                </a:solidFill>
                <a:latin typeface="Alice" pitchFamily="34" charset="0"/>
                <a:ea typeface="Alice" pitchFamily="34" charset="-122"/>
              </a:rPr>
              <a:t>Thank You…..</a:t>
            </a:r>
            <a:endParaRPr lang="en-US" sz="9600" dirty="0"/>
          </a:p>
          <a:p>
            <a:endParaRPr lang="en-IN" dirty="0"/>
          </a:p>
        </p:txBody>
      </p:sp>
      <p:pic>
        <p:nvPicPr>
          <p:cNvPr id="7" name="Picture 6">
            <a:extLst>
              <a:ext uri="{FF2B5EF4-FFF2-40B4-BE49-F238E27FC236}">
                <a16:creationId xmlns:a16="http://schemas.microsoft.com/office/drawing/2014/main" id="{3C84CAEA-C927-88A2-DDCF-0ACB7C2DE56B}"/>
              </a:ext>
            </a:extLst>
          </p:cNvPr>
          <p:cNvPicPr>
            <a:picLocks noChangeAspect="1"/>
          </p:cNvPicPr>
          <p:nvPr/>
        </p:nvPicPr>
        <p:blipFill>
          <a:blip r:embed="rId2"/>
          <a:stretch>
            <a:fillRect/>
          </a:stretch>
        </p:blipFill>
        <p:spPr>
          <a:xfrm>
            <a:off x="12460036" y="7217576"/>
            <a:ext cx="2170364" cy="1012024"/>
          </a:xfrm>
          <a:prstGeom prst="rect">
            <a:avLst/>
          </a:prstGeom>
        </p:spPr>
      </p:pic>
    </p:spTree>
    <p:extLst>
      <p:ext uri="{BB962C8B-B14F-4D97-AF65-F5344CB8AC3E}">
        <p14:creationId xmlns:p14="http://schemas.microsoft.com/office/powerpoint/2010/main" val="3602302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TotalTime>
  <Words>1196</Words>
  <Application>Microsoft Office PowerPoint</Application>
  <PresentationFormat>Custom</PresentationFormat>
  <Paragraphs>149</Paragraphs>
  <Slides>13</Slides>
  <Notes>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97-Sakshi Lakshman Patil</cp:lastModifiedBy>
  <cp:revision>13</cp:revision>
  <dcterms:created xsi:type="dcterms:W3CDTF">2025-07-30T04:18:03Z</dcterms:created>
  <dcterms:modified xsi:type="dcterms:W3CDTF">2026-10-10T16:14:43Z</dcterms:modified>
</cp:coreProperties>
</file>